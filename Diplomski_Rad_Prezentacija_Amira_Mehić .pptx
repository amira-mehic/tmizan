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484D"/>
    <a:srgbClr val="1616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66" autoAdjust="0"/>
    <p:restoredTop sz="92978" autoAdjust="0"/>
  </p:normalViewPr>
  <p:slideViewPr>
    <p:cSldViewPr snapToGrid="0" snapToObjects="1">
      <p:cViewPr varScale="1">
        <p:scale>
          <a:sx n="133" d="100"/>
          <a:sy n="133" d="100"/>
        </p:scale>
        <p:origin x="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34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2475739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chemeClr val="bg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TMIZAN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58952" y="3127248"/>
            <a:ext cx="1143000" cy="0"/>
          </a:xfrm>
          <a:prstGeom prst="line">
            <a:avLst/>
          </a:prstGeom>
          <a:noFill/>
          <a:ln w="254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731520" y="331012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Univerzitet u Zenici · Politehnički fakultet · Softversko inženjerstvo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v. prof. dr. Denis Čeke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Studentica: Amira Mehić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Zenica, 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.0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.2026.</a:t>
            </a:r>
            <a:endParaRPr lang="en-US" sz="105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E5EA6BB-42EE-F445-75FA-69D177D8CB9B}"/>
              </a:ext>
            </a:extLst>
          </p:cNvPr>
          <p:cNvSpPr/>
          <p:nvPr/>
        </p:nvSpPr>
        <p:spPr>
          <a:xfrm>
            <a:off x="704088" y="1554480"/>
            <a:ext cx="8170494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310"/>
              </a:lnSpc>
              <a:buNone/>
            </a:pPr>
            <a:r>
              <a:rPr lang="en-US" sz="3600" b="1" kern="0" spc="-144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Razvoj informacionog sistema za evidenciju i planiranje hifza Kur'ana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83543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Sadržaj</a:t>
            </a:r>
            <a:r>
              <a:rPr lang="en-US" sz="2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izlaganja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 txBox="1"/>
          <p:nvPr/>
        </p:nvSpPr>
        <p:spPr>
          <a:xfrm>
            <a:off x="50292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Uvod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470916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Motivacija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50292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Postavka problema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70916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 txBox="1"/>
          <p:nvPr/>
        </p:nvSpPr>
        <p:spPr>
          <a:xfrm>
            <a:off x="470916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Razvoj i implementacija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 txBox="1"/>
          <p:nvPr/>
        </p:nvSpPr>
        <p:spPr>
          <a:xfrm>
            <a:off x="50292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Rezultati istraživanja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70916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 txBox="1"/>
          <p:nvPr/>
        </p:nvSpPr>
        <p:spPr>
          <a:xfrm>
            <a:off x="470916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Zaključak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4541741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A98ED6-C0F1-12FC-F565-051FF8E7E335}"/>
              </a:ext>
            </a:extLst>
          </p:cNvPr>
          <p:cNvSpPr txBox="1"/>
          <p:nvPr/>
        </p:nvSpPr>
        <p:spPr>
          <a:xfrm>
            <a:off x="502920" y="203946"/>
            <a:ext cx="15036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kern="0" spc="144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AU" sz="900" dirty="0">
              <a:solidFill>
                <a:srgbClr val="E5484D"/>
              </a:solidFill>
            </a:endParaRPr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114DC5E9-0877-894F-CD08-3914DB3B5603}"/>
              </a:ext>
            </a:extLst>
          </p:cNvPr>
          <p:cNvSpPr/>
          <p:nvPr/>
        </p:nvSpPr>
        <p:spPr>
          <a:xfrm>
            <a:off x="502920" y="1237998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70537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UVOD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je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17145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44464" y="170285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647661" y="1636193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Kur'ana napamet, proces koji traje godinama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263142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44464" y="236855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7661" y="2301888"/>
            <a:ext cx="31198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Usvajanje novog gradiva je manji dio posla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297125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44464" y="282852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7661" y="2761860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 vremenom oduzima više vremena nego učenje novog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49421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7661" y="3427556"/>
            <a:ext cx="338665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 stranice · 30 džuzeva · nejednake jedinice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655" y="1864487"/>
            <a:ext cx="3733881" cy="1750229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952928" y="3738532"/>
            <a:ext cx="3733881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7"/>
          <p:cNvSpPr/>
          <p:nvPr/>
        </p:nvSpPr>
        <p:spPr>
          <a:xfrm>
            <a:off x="4952928" y="3943274"/>
            <a:ext cx="209548" cy="28526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8"/>
          <p:cNvSpPr/>
          <p:nvPr/>
        </p:nvSpPr>
        <p:spPr>
          <a:xfrm>
            <a:off x="5257715" y="3868963"/>
            <a:ext cx="17797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novog gradiva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952928" y="4196591"/>
            <a:ext cx="209548" cy="28526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AU" sz="900">
              <a:solidFill>
                <a:srgbClr val="C00000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5257715" y="4122281"/>
            <a:ext cx="12374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ponavljanje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4756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MOTIVACIJA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44661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879627"/>
            <a:ext cx="353125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141102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344363"/>
            <a:ext cx="3693904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gotovo svako dugotrajno učenje postoji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hifz se i dalje koristi sveska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182" y="2029075"/>
            <a:ext cx="388438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ČETIRI IZVORA PODATAKA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182" y="2301462"/>
            <a:ext cx="965523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568571" y="2365226"/>
            <a:ext cx="780843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lično iskustvo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1479807" y="2301462"/>
            <a:ext cx="10253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1591196" y="2365226"/>
            <a:ext cx="8406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 i mualimi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578991" y="2679397"/>
            <a:ext cx="12195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1690380" y="2743161"/>
            <a:ext cx="10348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457182" y="2677873"/>
            <a:ext cx="1055078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568571" y="2741637"/>
            <a:ext cx="870399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metoda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57182" y="3289463"/>
            <a:ext cx="3884383" cy="4533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7348"/>
              </a:lnSpc>
            </a:pP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mil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iona</a:t>
            </a:r>
            <a:endParaRPr lang="en-US" sz="36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182" y="3771346"/>
            <a:ext cx="2746978" cy="3390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24062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hafiza u svijetu, prema procjeni portala Riwaq Al Quran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776838" y="4342650"/>
            <a:ext cx="2626706" cy="2758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evidencija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hifza po stranicama i ajetima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116E857-777F-5D46-5F58-DF6FC3386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755" y="1373378"/>
            <a:ext cx="4244595" cy="2947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76340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926786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3971" y="1430352"/>
            <a:ext cx="232429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komercijalno · 13,50 USD ·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kupljen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22337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196050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1893838"/>
            <a:ext cx="3633360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Pokriva samo trideseti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džuz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od 604 stranice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2683351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242047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2353810"/>
            <a:ext cx="322510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se izrađuje jednom i dalje se ne mijenja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143322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Shape 15"/>
          <p:cNvSpPr/>
          <p:nvPr/>
        </p:nvSpPr>
        <p:spPr>
          <a:xfrm>
            <a:off x="457182" y="288044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647661" y="2813782"/>
            <a:ext cx="3761259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evidencije sigurnosti znanja ni mjesta greške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182" y="334041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647661" y="3273754"/>
            <a:ext cx="1778083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veze s mualimom</a:t>
            </a:r>
            <a:endParaRPr lang="en-US" sz="12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28" y="1738447"/>
            <a:ext cx="3720652" cy="136405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508603" y="3102498"/>
            <a:ext cx="287616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prikaz radne aplikacije postojećeg rješenja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Akteri i zahtjevi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10206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597680"/>
            <a:ext cx="4263926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71651" y="1344363"/>
            <a:ext cx="280440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OVLAŠTENJA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01558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457182" y="1718965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Korisnik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171651" y="1718965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vlastiti hifz, plan, ponavljanje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457182" y="2423573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57182" y="212695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171651" y="212695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praćenje učenika, zadaci, sesije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457182" y="283155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2534936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Bloger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171651" y="2534936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izrada i uređivanje objava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457182" y="3239544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457182" y="294292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2171651" y="294292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podrška, prijave, zahtjevi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57182" y="3647529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457182" y="3350907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2171651" y="3350907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uloge, oglasi, cijeli sistem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457182" y="3768400"/>
            <a:ext cx="469031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 nisu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isključive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nalog može nositi više njih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9639" y="3207246"/>
            <a:ext cx="319716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89639" y="3356694"/>
            <a:ext cx="351688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NEFUNKCIONALNI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9639" y="3629081"/>
            <a:ext cx="1082105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601029" y="3692846"/>
            <a:ext cx="897426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 u bazi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6628846" y="3629081"/>
            <a:ext cx="50048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740236" y="3692846"/>
            <a:ext cx="31580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7186435" y="3629081"/>
            <a:ext cx="98257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6" name="Text 34"/>
          <p:cNvSpPr/>
          <p:nvPr/>
        </p:nvSpPr>
        <p:spPr>
          <a:xfrm>
            <a:off x="7297824" y="3692846"/>
            <a:ext cx="79789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prilagodljivost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5489639" y="4005492"/>
            <a:ext cx="860930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8" name="Text 36"/>
          <p:cNvSpPr/>
          <p:nvPr/>
        </p:nvSpPr>
        <p:spPr>
          <a:xfrm>
            <a:off x="5601029" y="4069257"/>
            <a:ext cx="676250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testabilnost</a:t>
            </a:r>
            <a:endParaRPr lang="en-US" sz="975" dirty="0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42ECF500-CB21-88CB-5D8F-BCE140659F21}"/>
              </a:ext>
            </a:extLst>
          </p:cNvPr>
          <p:cNvSpPr/>
          <p:nvPr/>
        </p:nvSpPr>
        <p:spPr>
          <a:xfrm>
            <a:off x="5673556" y="1344363"/>
            <a:ext cx="2804403" cy="1732208"/>
          </a:xfrm>
          <a:prstGeom prst="roundRect">
            <a:avLst>
              <a:gd name="adj" fmla="val 2857"/>
            </a:avLst>
          </a:prstGeom>
          <a:solidFill>
            <a:srgbClr val="241719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2CDEE18-94E1-7B98-BD16-68C26B7D0FE1}"/>
              </a:ext>
            </a:extLst>
          </p:cNvPr>
          <p:cNvSpPr txBox="1"/>
          <p:nvPr/>
        </p:nvSpPr>
        <p:spPr>
          <a:xfrm>
            <a:off x="6070719" y="147004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A34910A2-C4A8-2BB8-5725-E60BD1C13DBD}"/>
              </a:ext>
            </a:extLst>
          </p:cNvPr>
          <p:cNvSpPr txBox="1"/>
          <p:nvPr/>
        </p:nvSpPr>
        <p:spPr>
          <a:xfrm>
            <a:off x="6070719" y="21101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funkcionalnih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zahtjeva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0153" y="2633559"/>
            <a:ext cx="90595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kern="0" spc="54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FZ-01 → FZ-12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Arhitektura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02253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064422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606630" y="2185293"/>
            <a:ext cx="1517851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Klijentska aplikacija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9739" y="2224981"/>
            <a:ext cx="7066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PWA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608988"/>
            <a:ext cx="4184396" cy="395583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606630" y="2710842"/>
            <a:ext cx="138500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Aplikacijski poslužitelj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054791" y="2720764"/>
            <a:ext cx="47543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ga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182" y="3071234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606630" y="3192105"/>
            <a:ext cx="77921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3358" y="3231793"/>
            <a:ext cx="119764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autentifikacija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182" y="3615800"/>
            <a:ext cx="4184396" cy="464675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00015" y="3730057"/>
            <a:ext cx="944862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05787" y="3769744"/>
            <a:ext cx="120225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pravila pristupa u bazi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0109" y="2444399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5410109" y="215300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5600589" y="2061485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sloja, bez vlastitog aplikacijskog poslužitelja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10109" y="3110095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5410109" y="264149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600589" y="2574830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preuzima ulogu poslužitelja nad PostgreSQL bazom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10109" y="3775790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410109" y="33071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600589" y="3240526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prava pristupa izvedena je u samoj bazi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10109" y="397288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5600589" y="3906222"/>
            <a:ext cx="32149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 izbora: zavisnost o vanjskoj platformi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Korištene tehnologije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13041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1100"/>
          </a:p>
        </p:txBody>
      </p:sp>
      <p:sp>
        <p:nvSpPr>
          <p:cNvPr id="7" name="Shape 5"/>
          <p:cNvSpPr/>
          <p:nvPr/>
        </p:nvSpPr>
        <p:spPr>
          <a:xfrm>
            <a:off x="2126775" y="1350978"/>
            <a:ext cx="66257" cy="1981506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522388"/>
            <a:ext cx="16146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JEZICI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7182" y="1804283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182" y="2031866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182" y="2259449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PL/pgSQL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42407" y="1350977"/>
            <a:ext cx="136259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227448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27448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7448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74487" y="2259449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3.4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74487" y="2487032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74487" y="2714615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react-i18next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88302" y="1350977"/>
            <a:ext cx="136259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20433" y="1522388"/>
            <a:ext cx="142610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PODACI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920433" y="1804283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20433" y="2031866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047425" y="1350977"/>
            <a:ext cx="76728" cy="198150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56632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ISPORUKA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56632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6632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12273" y="1522388"/>
            <a:ext cx="16219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VOĐENJE</a:t>
            </a:r>
            <a:r>
              <a:rPr lang="hr-HR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12273" y="1804283"/>
            <a:ext cx="1621932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podataka i migracije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75949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278292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866285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52071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Shape 7"/>
          <p:cNvSpPr/>
          <p:nvPr/>
        </p:nvSpPr>
        <p:spPr>
          <a:xfrm>
            <a:off x="15972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192011"/>
            <a:ext cx="1149331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182" y="2555813"/>
            <a:ext cx="114933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9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699121" y="2192011"/>
            <a:ext cx="1044567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99121" y="2555813"/>
            <a:ext cx="1044567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logičkih cjelina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45821" y="2192011"/>
            <a:ext cx="1156663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45821" y="2555813"/>
            <a:ext cx="115666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migracija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182" y="3560506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Shape 16"/>
          <p:cNvSpPr/>
          <p:nvPr/>
        </p:nvSpPr>
        <p:spPr>
          <a:xfrm>
            <a:off x="475949" y="310146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647661" y="3034802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Baza se može izgraditi od nule na bilo kojem okruženju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182" y="374804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647661" y="3681378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Referentni Kur'anski sadržaj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odvojen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korisničkih podataka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99864" y="4501465"/>
            <a:ext cx="143185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Konceptualni 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dijagram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5457CD7-8AF3-CD2E-CD16-0EDDE2B4B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06" y="1640014"/>
            <a:ext cx="4715067" cy="27883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pravila na nivou reda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6499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89722"/>
            <a:ext cx="1863519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140+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270611" y="1895446"/>
            <a:ext cx="2097598" cy="40000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66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sigurnosnih pravila na nivou reda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2615448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3262023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80298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736319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Svako određuje koje redove korisnik smije vidjeti i mijenjati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908599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44955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382894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pri svakom pristupu, iz bilo kojeg klijenta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409613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4029470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Javni ključ u aplikaciji nije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rizik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zaštita se ne oslanja na njegovu tajnost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2572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18654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Preglednik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6688739" y="2216557"/>
            <a:ext cx="161903" cy="19017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6936321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7002403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7833062" y="243339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4852572" y="2681025"/>
            <a:ext cx="3834236" cy="79612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14474" y="2823859"/>
            <a:ext cx="3861475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pravilo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14474" y="3157172"/>
            <a:ext cx="3861475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se izvršava u bazi, na svakom redu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87301" y="347715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8" name="Shape 26"/>
          <p:cNvSpPr/>
          <p:nvPr/>
        </p:nvSpPr>
        <p:spPr>
          <a:xfrm>
            <a:off x="4852572" y="3724786"/>
            <a:ext cx="1743873" cy="401371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4912139" y="3829561"/>
            <a:ext cx="1624739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6682124" y="3915937"/>
            <a:ext cx="161903" cy="19017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Shape 29"/>
          <p:cNvSpPr/>
          <p:nvPr/>
        </p:nvSpPr>
        <p:spPr>
          <a:xfrm>
            <a:off x="6929706" y="3725509"/>
            <a:ext cx="1757102" cy="399872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6995689" y="3836899"/>
            <a:ext cx="1625136" cy="19614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bilo koji drugi klijent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9866" y="361942"/>
            <a:ext cx="17504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planiranja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 odabrani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redovi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849603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96285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en-US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JEDINICA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66890" y="1596285"/>
            <a:ext cx="706191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hr-HR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447034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008973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66890" y="2075119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 učenja nije konstantna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182" y="303454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457182" y="259648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66890" y="266262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dužina varira od pola reda do cijele stranice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182" y="362205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457182" y="318399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66890" y="325013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pregrube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većina uči manje od jedne dnevno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279" y="3628667"/>
            <a:ext cx="8391529" cy="580895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3771501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266890" y="3837647"/>
            <a:ext cx="6883818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jedina mjera ujednačena kroz cijeli mushaf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182" y="4371465"/>
            <a:ext cx="905259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Svi izračuni u sistemu izvode se 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redovima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dok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stranice i ajeti služe za prikaz i unos.</a:t>
            </a:r>
            <a:endParaRPr lang="en-US" sz="9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B2D41D9E-1FB4-AE9A-00C3-DB6968775FC2}"/>
              </a:ext>
            </a:extLst>
          </p:cNvPr>
          <p:cNvSpPr txBox="1"/>
          <p:nvPr/>
        </p:nvSpPr>
        <p:spPr>
          <a:xfrm>
            <a:off x="8046946" y="3736235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Čarobnjak i mjesečni raspored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Shape 17"/>
          <p:cNvSpPr/>
          <p:nvPr/>
        </p:nvSpPr>
        <p:spPr>
          <a:xfrm flipH="1">
            <a:off x="4800145" y="3055444"/>
            <a:ext cx="46435" cy="118669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chemeClr val="bg1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5246" y="322829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525725" y="3194959"/>
            <a:ext cx="4046275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5246" y="390819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02920" y="3770410"/>
            <a:ext cx="381902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600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Odrađeni dani ostaju netaknuti pri ponovnom izračunu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50838" y="3237722"/>
            <a:ext cx="434407" cy="4914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883"/>
              </a:lnSpc>
            </a:pPr>
            <a:r>
              <a:rPr lang="en-US" sz="24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400" dirty="0">
              <a:solidFill>
                <a:srgbClr val="E5484D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110854" y="3659440"/>
            <a:ext cx="2818823" cy="34089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dnevno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preporučena</a:t>
            </a:r>
            <a:endParaRPr lang="hr-HR" sz="1100" dirty="0">
              <a:solidFill>
                <a:srgbClr val="B5AEA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ct val="113191"/>
              </a:lnSpc>
            </a:pP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granica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tempa</a:t>
            </a:r>
            <a:endParaRPr lang="en-US" sz="11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77BF9029-9ECD-C770-E32D-7ABC52BEC241}"/>
              </a:ext>
            </a:extLst>
          </p:cNvPr>
          <p:cNvSpPr/>
          <p:nvPr/>
        </p:nvSpPr>
        <p:spPr>
          <a:xfrm>
            <a:off x="502920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E6F522B1-BE8B-A466-EBDF-A7D487C3047F}"/>
              </a:ext>
            </a:extLst>
          </p:cNvPr>
          <p:cNvSpPr txBox="1"/>
          <p:nvPr/>
        </p:nvSpPr>
        <p:spPr>
          <a:xfrm>
            <a:off x="576072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78E7B82-2964-4429-B886-84ABEFB4E5B9}"/>
              </a:ext>
            </a:extLst>
          </p:cNvPr>
          <p:cNvSpPr txBox="1"/>
          <p:nvPr/>
        </p:nvSpPr>
        <p:spPr>
          <a:xfrm>
            <a:off x="576072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Izdanje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mushafa</a:t>
            </a:r>
            <a:endParaRPr lang="en-US" sz="12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319821F0-2FA0-555D-5C6E-7D3930F1C6B6}"/>
              </a:ext>
            </a:extLst>
          </p:cNvPr>
          <p:cNvSpPr txBox="1"/>
          <p:nvPr/>
        </p:nvSpPr>
        <p:spPr>
          <a:xfrm>
            <a:off x="1953158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1D53A94E-1211-222F-1E9B-1AE61AA71EB5}"/>
              </a:ext>
            </a:extLst>
          </p:cNvPr>
          <p:cNvSpPr/>
          <p:nvPr/>
        </p:nvSpPr>
        <p:spPr>
          <a:xfrm>
            <a:off x="2181758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D6D9B416-918C-9BDC-9B84-1550626B1EC6}"/>
              </a:ext>
            </a:extLst>
          </p:cNvPr>
          <p:cNvSpPr txBox="1"/>
          <p:nvPr/>
        </p:nvSpPr>
        <p:spPr>
          <a:xfrm>
            <a:off x="2254910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E31ED3C-00A4-7FF7-70CD-835AFC2EBF31}"/>
              </a:ext>
            </a:extLst>
          </p:cNvPr>
          <p:cNvSpPr txBox="1"/>
          <p:nvPr/>
        </p:nvSpPr>
        <p:spPr>
          <a:xfrm>
            <a:off x="2254910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Opseg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učenja</a:t>
            </a:r>
            <a:endParaRPr lang="en-US" sz="12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B43147DE-C44F-AADE-908C-CFE4D2437A35}"/>
              </a:ext>
            </a:extLst>
          </p:cNvPr>
          <p:cNvSpPr txBox="1"/>
          <p:nvPr/>
        </p:nvSpPr>
        <p:spPr>
          <a:xfrm>
            <a:off x="3631997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D4953F3C-EBA7-0936-39B9-53BB28308C23}"/>
              </a:ext>
            </a:extLst>
          </p:cNvPr>
          <p:cNvSpPr/>
          <p:nvPr/>
        </p:nvSpPr>
        <p:spPr>
          <a:xfrm>
            <a:off x="3860597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2" name="Text 11">
            <a:extLst>
              <a:ext uri="{FF2B5EF4-FFF2-40B4-BE49-F238E27FC236}">
                <a16:creationId xmlns:a16="http://schemas.microsoft.com/office/drawing/2014/main" id="{2E99112F-3366-5C24-66E1-49FC470AC197}"/>
              </a:ext>
            </a:extLst>
          </p:cNvPr>
          <p:cNvSpPr txBox="1"/>
          <p:nvPr/>
        </p:nvSpPr>
        <p:spPr>
          <a:xfrm>
            <a:off x="3933749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DDAE44F8-27A9-3AA4-E7CD-DED9D6622701}"/>
              </a:ext>
            </a:extLst>
          </p:cNvPr>
          <p:cNvSpPr txBox="1"/>
          <p:nvPr/>
        </p:nvSpPr>
        <p:spPr>
          <a:xfrm>
            <a:off x="3933749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</a:t>
            </a:r>
            <a:endParaRPr lang="en-US" sz="1200" dirty="0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CB3151E9-520C-DBF1-A1C7-2E6FC05EB451}"/>
              </a:ext>
            </a:extLst>
          </p:cNvPr>
          <p:cNvSpPr txBox="1"/>
          <p:nvPr/>
        </p:nvSpPr>
        <p:spPr>
          <a:xfrm>
            <a:off x="5310835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EECF1211-25AA-13EF-9099-B1F392158186}"/>
              </a:ext>
            </a:extLst>
          </p:cNvPr>
          <p:cNvSpPr/>
          <p:nvPr/>
        </p:nvSpPr>
        <p:spPr>
          <a:xfrm>
            <a:off x="5539435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81EAB74B-08A9-339E-D3B5-77AFA96CCEF5}"/>
              </a:ext>
            </a:extLst>
          </p:cNvPr>
          <p:cNvSpPr txBox="1"/>
          <p:nvPr/>
        </p:nvSpPr>
        <p:spPr>
          <a:xfrm>
            <a:off x="5612587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52D16B83-CB4A-BAA7-9303-F6832584C283}"/>
              </a:ext>
            </a:extLst>
          </p:cNvPr>
          <p:cNvSpPr txBox="1"/>
          <p:nvPr/>
        </p:nvSpPr>
        <p:spPr>
          <a:xfrm>
            <a:off x="5612587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 tempo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44D3122C-A416-477E-9D3A-AD45C02D2BA1}"/>
              </a:ext>
            </a:extLst>
          </p:cNvPr>
          <p:cNvSpPr txBox="1"/>
          <p:nvPr/>
        </p:nvSpPr>
        <p:spPr>
          <a:xfrm>
            <a:off x="6989674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C60B6582-F99F-2752-FF84-B86F13730617}"/>
              </a:ext>
            </a:extLst>
          </p:cNvPr>
          <p:cNvSpPr/>
          <p:nvPr/>
        </p:nvSpPr>
        <p:spPr>
          <a:xfrm>
            <a:off x="7218274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E5484D"/>
          </a:solidFill>
          <a:ln w="9525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E653DD46-7D1E-ACBD-18A6-87DEF6FC6A22}"/>
              </a:ext>
            </a:extLst>
          </p:cNvPr>
          <p:cNvSpPr txBox="1"/>
          <p:nvPr/>
        </p:nvSpPr>
        <p:spPr>
          <a:xfrm>
            <a:off x="7291426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E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1FD3E6EA-2FEF-97C1-5BB9-EB55F1423B37}"/>
              </a:ext>
            </a:extLst>
          </p:cNvPr>
          <p:cNvSpPr txBox="1"/>
          <p:nvPr/>
        </p:nvSpPr>
        <p:spPr>
          <a:xfrm>
            <a:off x="7291426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Mjesečni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raspored</a:t>
            </a:r>
            <a:endParaRPr 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15ADC79-A315-CC73-E5F3-02F8F6E261A0}"/>
              </a:ext>
            </a:extLst>
          </p:cNvPr>
          <p:cNvSpPr txBox="1"/>
          <p:nvPr/>
        </p:nvSpPr>
        <p:spPr>
          <a:xfrm>
            <a:off x="450765" y="3055444"/>
            <a:ext cx="4248369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Korisnik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zaključava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datum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završetka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ili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tempo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, a s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istem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izračunava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drugu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veličinu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provjerava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je li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realna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dva stanja gradiva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02571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080597"/>
            <a:ext cx="1447250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39840" y="2287878"/>
            <a:ext cx="2536983" cy="21399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rastući razmaci · pojedinačna stranica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551989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86862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1526987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2596844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32505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Shape 13"/>
          <p:cNvSpPr/>
          <p:nvPr/>
        </p:nvSpPr>
        <p:spPr>
          <a:xfrm>
            <a:off x="7123131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57182" y="2890108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3068133"/>
            <a:ext cx="1545534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Utvrđeno gradivo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3238326"/>
            <a:ext cx="2520023" cy="1806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ravnomjeran prolaz · skup stranica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182" y="3539526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45718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1773897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Shape 20"/>
          <p:cNvSpPr/>
          <p:nvPr/>
        </p:nvSpPr>
        <p:spPr>
          <a:xfrm>
            <a:off x="309061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4407380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5724095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Shape 23"/>
          <p:cNvSpPr/>
          <p:nvPr/>
        </p:nvSpPr>
        <p:spPr>
          <a:xfrm>
            <a:off x="704086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457182" y="3877645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457182" y="4036659"/>
            <a:ext cx="8476516" cy="22476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8769"/>
              </a:lnSpc>
            </a:pP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pravilo ne može pokriti oba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stanja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daje loš rezultat u oba slučaja.</a:t>
            </a:r>
            <a:endParaRPr lang="en-US" sz="14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A i Motor 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742927" y="4076053"/>
            <a:ext cx="43167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Petnaest metoda ponavljanja i četiri metode učenja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742927" y="4548971"/>
            <a:ext cx="431679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</a:t>
            </a:r>
            <a:r>
              <a:rPr lang="en-US" sz="12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metoda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dopuna konfiguracije, bez izmjene motora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6" name="Shape 1">
            <a:extLst>
              <a:ext uri="{FF2B5EF4-FFF2-40B4-BE49-F238E27FC236}">
                <a16:creationId xmlns:a16="http://schemas.microsoft.com/office/drawing/2014/main" id="{A4D43FBE-B458-CD67-747B-127F9D033AFC}"/>
              </a:ext>
            </a:extLst>
          </p:cNvPr>
          <p:cNvSpPr/>
          <p:nvPr/>
        </p:nvSpPr>
        <p:spPr>
          <a:xfrm>
            <a:off x="396674" y="1632324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7E56B02A-9801-316B-1855-AA2D90A115CD}"/>
              </a:ext>
            </a:extLst>
          </p:cNvPr>
          <p:cNvSpPr txBox="1"/>
          <p:nvPr/>
        </p:nvSpPr>
        <p:spPr>
          <a:xfrm>
            <a:off x="652706" y="18152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A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59B106F3-819C-3698-802E-5CA84A7E858C}"/>
              </a:ext>
            </a:extLst>
          </p:cNvPr>
          <p:cNvSpPr txBox="1"/>
          <p:nvPr/>
        </p:nvSpPr>
        <p:spPr>
          <a:xfrm>
            <a:off x="652706" y="21626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Ciklično po stranicama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F6BC7151-F766-7F2B-4BC0-020DA320D319}"/>
              </a:ext>
            </a:extLst>
          </p:cNvPr>
          <p:cNvSpPr txBox="1"/>
          <p:nvPr/>
        </p:nvSpPr>
        <p:spPr>
          <a:xfrm>
            <a:off x="652706" y="2501004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Pokriva održavanje utvrđenog gradiva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količina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veličina skupa ÷ dužina ciklusa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stranica nosi vlastiti datum sljedećeg ponavljanja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4" name="Shape 5">
            <a:extLst>
              <a:ext uri="{FF2B5EF4-FFF2-40B4-BE49-F238E27FC236}">
                <a16:creationId xmlns:a16="http://schemas.microsoft.com/office/drawing/2014/main" id="{A3DE4396-B106-9014-608B-C35D4A32E0D1}"/>
              </a:ext>
            </a:extLst>
          </p:cNvPr>
          <p:cNvSpPr/>
          <p:nvPr/>
        </p:nvSpPr>
        <p:spPr>
          <a:xfrm>
            <a:off x="4701203" y="1650492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D5CF513C-2CEF-EFB9-2353-701A5334D941}"/>
              </a:ext>
            </a:extLst>
          </p:cNvPr>
          <p:cNvSpPr txBox="1"/>
          <p:nvPr/>
        </p:nvSpPr>
        <p:spPr>
          <a:xfrm>
            <a:off x="4957235" y="18333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B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38C9F7BC-E692-97D7-31D9-BE0A37B88169}"/>
              </a:ext>
            </a:extLst>
          </p:cNvPr>
          <p:cNvSpPr txBox="1"/>
          <p:nvPr/>
        </p:nvSpPr>
        <p:spPr>
          <a:xfrm>
            <a:off x="4957235" y="21808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Intervalni blokovi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DAC959E2-21A1-8813-D9EF-20EAC59492C0}"/>
              </a:ext>
            </a:extLst>
          </p:cNvPr>
          <p:cNvSpPr txBox="1"/>
          <p:nvPr/>
        </p:nvSpPr>
        <p:spPr>
          <a:xfrm>
            <a:off x="4957235" y="2519172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Izvršava intervalne metode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Razmaci se čuvaju u satima, ne danima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napreduje pri uspjehu, vraća se pri grešci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682A99A6-4DBF-E675-28BA-0E85440F5923}"/>
              </a:ext>
            </a:extLst>
          </p:cNvPr>
          <p:cNvSpPr/>
          <p:nvPr/>
        </p:nvSpPr>
        <p:spPr>
          <a:xfrm>
            <a:off x="586043" y="417544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272332C1-2DC3-AAB4-B2B9-8FF0E5CD899D}"/>
              </a:ext>
            </a:extLst>
          </p:cNvPr>
          <p:cNvSpPr/>
          <p:nvPr/>
        </p:nvSpPr>
        <p:spPr>
          <a:xfrm>
            <a:off x="578955" y="467542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Prelazak između motora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77657"/>
            <a:ext cx="3019454" cy="1409578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 dirty="0"/>
          </a:p>
        </p:txBody>
      </p:sp>
      <p:sp>
        <p:nvSpPr>
          <p:cNvPr id="7" name="Text 5"/>
          <p:cNvSpPr/>
          <p:nvPr/>
        </p:nvSpPr>
        <p:spPr>
          <a:xfrm>
            <a:off x="666730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666730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Intervalni blokovi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6730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45192" y="2234954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/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prošao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posljednji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greške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638538" y="2523464"/>
            <a:ext cx="1764389" cy="23771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5402926" y="2469203"/>
            <a:ext cx="102526" cy="132292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638538" y="2763397"/>
            <a:ext cx="102526" cy="132292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3741064" y="2817658"/>
            <a:ext cx="1764389" cy="2377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3545192" y="2952792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greške u ciklusu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7354" y="1977657"/>
            <a:ext cx="3019454" cy="140957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5876903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5876903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Ciklično po stranicama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76903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režim održavanja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182" y="359678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4565355" y="3755792"/>
            <a:ext cx="6615" cy="411448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755792"/>
            <a:ext cx="385061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iznad svih metoda, bez obzira šta je korisnik odabrao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52969" y="3755792"/>
            <a:ext cx="3857285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Gradivo kruži prema stvarnom stanju znanja, ne prema unaprijed zadanom rasporedu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višestruke pohrane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85241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3175000"/>
            <a:ext cx="532629" cy="266651"/>
          </a:xfrm>
          <a:prstGeom prst="rect">
            <a:avLst/>
          </a:prstGeom>
          <a:solidFill>
            <a:srgbClr val="4A443E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38132" y="3498753"/>
            <a:ext cx="5707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37405" y="2984469"/>
            <a:ext cx="532681" cy="457182"/>
          </a:xfrm>
          <a:prstGeom prst="rect">
            <a:avLst/>
          </a:prstGeom>
          <a:solidFill>
            <a:srgbClr val="5E574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1018355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17679" y="2793990"/>
            <a:ext cx="532681" cy="647661"/>
          </a:xfrm>
          <a:prstGeom prst="rect">
            <a:avLst/>
          </a:prstGeom>
          <a:solidFill>
            <a:srgbClr val="736B62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159862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97954" y="2603459"/>
            <a:ext cx="532681" cy="838192"/>
          </a:xfrm>
          <a:prstGeom prst="rect">
            <a:avLst/>
          </a:prstGeom>
          <a:solidFill>
            <a:srgbClr val="8A817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2178904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78229" y="2412979"/>
            <a:ext cx="532681" cy="1028671"/>
          </a:xfrm>
          <a:prstGeom prst="rect">
            <a:avLst/>
          </a:prstGeom>
          <a:solidFill>
            <a:srgbClr val="A1978C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275917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58503" y="2222500"/>
            <a:ext cx="532681" cy="1219151"/>
          </a:xfrm>
          <a:prstGeom prst="rect">
            <a:avLst/>
          </a:prstGeom>
          <a:solidFill>
            <a:srgbClr val="BCB2A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3339453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938778" y="2031969"/>
            <a:ext cx="532681" cy="1409682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19728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322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182" y="3761579"/>
            <a:ext cx="401427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863434"/>
            <a:ext cx="92371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6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početni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30069" y="3863434"/>
            <a:ext cx="14651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pauze 1 · 2 · 4 · 8 · 16 dana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18031" y="3863434"/>
            <a:ext cx="8539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0 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trajno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pohranjeno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9990" y="2839155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239990" y="237055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430469" y="2303891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 pojedinačni ajet kroz sedam nivoa sigurnosti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39990" y="3504851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Shape 27"/>
          <p:cNvSpPr/>
          <p:nvPr/>
        </p:nvSpPr>
        <p:spPr>
          <a:xfrm>
            <a:off x="5239990" y="303624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30469" y="2969586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Greška izoluje samo taj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ostatak bloka nastavlja svojom putanjom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239990" y="370194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430469" y="3635282"/>
            <a:ext cx="2733632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Blaža posljedica na dubokim nivoima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Progresivna web aplikacija i prilagodba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19126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525427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6638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999723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Instalira se na uređaj iz preglednika, bez prodavnice aplikacija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3172003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71296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646299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Lokalno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keširanje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interfejsa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 rad u offline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režimu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182" y="3612855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35953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292874"/>
            <a:ext cx="3357211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Pozivi prema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izuzeti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 pohrane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8003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3733726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Sedam tema, dva jezika, podesiva veličina arapskog teksta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8842" y="1931924"/>
            <a:ext cx="2384919" cy="2037240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457" y="1938538"/>
            <a:ext cx="2371690" cy="202401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78842" y="4035826"/>
            <a:ext cx="262341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Mobilni prikaz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25663" y="2307043"/>
            <a:ext cx="1561145" cy="1287053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278" y="2313657"/>
            <a:ext cx="1547916" cy="12738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125663" y="3660758"/>
            <a:ext cx="171726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Postavke i prilagodba</a:t>
            </a:r>
            <a:endParaRPr 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59ACD9-6346-6B72-C124-409222C56680}"/>
              </a:ext>
            </a:extLst>
          </p:cNvPr>
          <p:cNvSpPr txBox="1"/>
          <p:nvPr/>
        </p:nvSpPr>
        <p:spPr>
          <a:xfrm>
            <a:off x="3830782" y="34012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Testiranje, isporuka i vođenje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36939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151807"/>
            <a:ext cx="3884383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182" y="2887524"/>
            <a:ext cx="3884383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jediničnih testova u 15 datoteka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3285588"/>
            <a:ext cx="3531257" cy="707502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619084" y="3428421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test/run.js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19084" y="3658382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F3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Ukupno testova: 477 — prošlo 477, palo 0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4756971" y="2736319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4756971" y="226771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947450" y="2201054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okvira za testiranje: vlastiti pokretač, svaki test zaseban proces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6971" y="3402015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756971" y="293341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947450" y="2866750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slika u dvije faze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konačna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bez alata za izgradnju i izvornog koda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6971" y="359910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47450" y="3532446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DevOps: sprintovi,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izmjen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vezan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zadat</a:t>
            </a:r>
            <a:r>
              <a:rPr lang="hr-HR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09260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REZULTATI ISTRAŽIVANJA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Rezultati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istraživanja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 mogućnosti daljeg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Text 4"/>
          <p:cNvSpPr/>
          <p:nvPr/>
        </p:nvSpPr>
        <p:spPr>
          <a:xfrm>
            <a:off x="0" y="1037091"/>
            <a:ext cx="9144000" cy="8702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883"/>
              </a:lnSpc>
            </a:pPr>
            <a:r>
              <a:rPr lang="en-US" sz="48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4800" dirty="0">
              <a:solidFill>
                <a:srgbClr val="E5484D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452114" y="1800125"/>
            <a:ext cx="250960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funkcionalnih zahtjeva ispunjeno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63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53858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4658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122753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35591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916541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24541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2605491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13543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3294493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02493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3983443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91495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4672445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1395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5361395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50396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Text 23"/>
          <p:cNvSpPr/>
          <p:nvPr/>
        </p:nvSpPr>
        <p:spPr>
          <a:xfrm>
            <a:off x="6050396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39347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6739347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2834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742834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11729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Text 29"/>
          <p:cNvSpPr/>
          <p:nvPr/>
        </p:nvSpPr>
        <p:spPr>
          <a:xfrm>
            <a:off x="811729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2104" y="2939552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54638" y="3114683"/>
            <a:ext cx="409993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900" b="1" kern="0" spc="72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TESTIRANI SEGMENTI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5025" y="3310880"/>
            <a:ext cx="3839031" cy="2780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igurnost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testiranjem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jediničnim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testovima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portabilnost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izgradnjom baze od nule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13010" y="3785243"/>
            <a:ext cx="41072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DALJI RAZVOJ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24782" y="3960493"/>
            <a:ext cx="3845897" cy="36569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1898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rupno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kroz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halke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Kur’an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obavijesti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razmaci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prema izmjerenom zaboravljanju</a:t>
            </a:r>
            <a:endParaRPr lang="en-US" sz="1200" dirty="0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324825A2-6106-4979-7AEF-EF27A7D086E6}"/>
              </a:ext>
            </a:extLst>
          </p:cNvPr>
          <p:cNvSpPr/>
          <p:nvPr/>
        </p:nvSpPr>
        <p:spPr>
          <a:xfrm>
            <a:off x="631779" y="3395083"/>
            <a:ext cx="45719" cy="62254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D7E9EB14-4C4D-B743-8C86-714489CC304A}"/>
              </a:ext>
            </a:extLst>
          </p:cNvPr>
          <p:cNvSpPr/>
          <p:nvPr/>
        </p:nvSpPr>
        <p:spPr>
          <a:xfrm>
            <a:off x="4331944" y="4029379"/>
            <a:ext cx="45719" cy="82800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1903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ZAKLJUČAK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Zaključak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- o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stvareni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ciljevi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doprinos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</a:t>
            </a:r>
            <a:endParaRPr lang="en-US"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4707260"/>
            <a:ext cx="8476516" cy="22475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28769"/>
              </a:lnSpc>
            </a:pP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uspješno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tradicionalne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metodologije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učenja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savremenim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softverskim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inženjerstvom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pružajući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pouzdan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digitalni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podršku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8259E1-457D-69C8-AE2E-465BD4C3071C}"/>
              </a:ext>
            </a:extLst>
          </p:cNvPr>
          <p:cNvSpPr/>
          <p:nvPr/>
        </p:nvSpPr>
        <p:spPr>
          <a:xfrm>
            <a:off x="485684" y="1333714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91BC31-018B-D7D1-58A4-21CE531331EE}"/>
              </a:ext>
            </a:extLst>
          </p:cNvPr>
          <p:cNvSpPr txBox="1"/>
          <p:nvPr/>
        </p:nvSpPr>
        <p:spPr>
          <a:xfrm>
            <a:off x="1021219" y="1348562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Granularno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raćenje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istem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precizan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uvid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znanje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nivou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džuza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stranice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ajeta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vođenje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nesigurnih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mjesta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9A3ABB-E5F9-5E98-BC9A-F542DB65CC0C}"/>
              </a:ext>
            </a:extLst>
          </p:cNvPr>
          <p:cNvSpPr/>
          <p:nvPr/>
        </p:nvSpPr>
        <p:spPr>
          <a:xfrm>
            <a:off x="485683" y="13305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837187-5B1B-115F-30F4-50C41B692CA9}"/>
              </a:ext>
            </a:extLst>
          </p:cNvPr>
          <p:cNvSpPr/>
          <p:nvPr/>
        </p:nvSpPr>
        <p:spPr>
          <a:xfrm>
            <a:off x="474024" y="2181039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740D37-4535-BD22-19F7-E715199805FC}"/>
              </a:ext>
            </a:extLst>
          </p:cNvPr>
          <p:cNvSpPr txBox="1"/>
          <p:nvPr/>
        </p:nvSpPr>
        <p:spPr>
          <a:xfrm>
            <a:off x="1009559" y="224959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PWA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ristup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orisnički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funkcioniše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progresivna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web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aplikacija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rad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pregledniku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offline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prethodno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preuzetim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podacima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746C64-B2B1-15FF-20C0-A2726DFF6BF4}"/>
              </a:ext>
            </a:extLst>
          </p:cNvPr>
          <p:cNvSpPr/>
          <p:nvPr/>
        </p:nvSpPr>
        <p:spPr>
          <a:xfrm>
            <a:off x="474023" y="21810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C66951-6D09-AC69-A171-E9FCC9B3157D}"/>
              </a:ext>
            </a:extLst>
          </p:cNvPr>
          <p:cNvSpPr/>
          <p:nvPr/>
        </p:nvSpPr>
        <p:spPr>
          <a:xfrm>
            <a:off x="474025" y="3102376"/>
            <a:ext cx="8282940" cy="653919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E1DB2C-71DF-15F5-23A1-346605B27143}"/>
              </a:ext>
            </a:extLst>
          </p:cNvPr>
          <p:cNvSpPr txBox="1"/>
          <p:nvPr/>
        </p:nvSpPr>
        <p:spPr>
          <a:xfrm>
            <a:off x="1009560" y="3204040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čenik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m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ualim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d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igitalizovan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tradicionalni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odnos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nastave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hifza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uvažavanje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spajanja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istog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roda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DFF2B-D109-CCB3-5C80-974C9A44EDA3}"/>
              </a:ext>
            </a:extLst>
          </p:cNvPr>
          <p:cNvSpPr/>
          <p:nvPr/>
        </p:nvSpPr>
        <p:spPr>
          <a:xfrm>
            <a:off x="474024" y="3102376"/>
            <a:ext cx="45719" cy="653919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416C5B-4F0B-244C-F964-EE816E4DC978}"/>
              </a:ext>
            </a:extLst>
          </p:cNvPr>
          <p:cNvSpPr/>
          <p:nvPr/>
        </p:nvSpPr>
        <p:spPr>
          <a:xfrm>
            <a:off x="485684" y="3906522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DCD0E1-FCBF-9C48-66E6-BD84FFF6AE0B}"/>
              </a:ext>
            </a:extLst>
          </p:cNvPr>
          <p:cNvSpPr txBox="1"/>
          <p:nvPr/>
        </p:nvSpPr>
        <p:spPr>
          <a:xfrm>
            <a:off x="1009559" y="399415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Visok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igurnosti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p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odaci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zaštićeni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RLS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sigurnosnim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PostgreSQL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bazi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sprečavajući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neovlašten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korisničke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sesije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D676B81-A169-93AA-A5BA-726577A74B45}"/>
              </a:ext>
            </a:extLst>
          </p:cNvPr>
          <p:cNvSpPr/>
          <p:nvPr/>
        </p:nvSpPr>
        <p:spPr>
          <a:xfrm>
            <a:off x="485683" y="3906522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06754150-8559-ECEC-B065-E49679B15784}"/>
              </a:ext>
            </a:extLst>
          </p:cNvPr>
          <p:cNvCxnSpPr>
            <a:cxnSpLocks/>
          </p:cNvCxnSpPr>
          <p:nvPr/>
        </p:nvCxnSpPr>
        <p:spPr>
          <a:xfrm>
            <a:off x="485684" y="1339560"/>
            <a:ext cx="512215" cy="264040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8F200D14-7F37-EFC9-1B1C-CF11C189ECF7}"/>
              </a:ext>
            </a:extLst>
          </p:cNvPr>
          <p:cNvCxnSpPr>
            <a:cxnSpLocks/>
          </p:cNvCxnSpPr>
          <p:nvPr/>
        </p:nvCxnSpPr>
        <p:spPr>
          <a:xfrm>
            <a:off x="478064" y="2186680"/>
            <a:ext cx="512215" cy="303406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A9572FAB-A952-8B55-7A92-BF5305C0F2AD}"/>
              </a:ext>
            </a:extLst>
          </p:cNvPr>
          <p:cNvCxnSpPr>
            <a:cxnSpLocks/>
          </p:cNvCxnSpPr>
          <p:nvPr/>
        </p:nvCxnSpPr>
        <p:spPr>
          <a:xfrm>
            <a:off x="474025" y="3099836"/>
            <a:ext cx="523874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468C2F6-7709-D8AF-EB84-060AEE97A140}"/>
              </a:ext>
            </a:extLst>
          </p:cNvPr>
          <p:cNvCxnSpPr>
            <a:cxnSpLocks/>
          </p:cNvCxnSpPr>
          <p:nvPr/>
        </p:nvCxnSpPr>
        <p:spPr>
          <a:xfrm>
            <a:off x="485518" y="3909866"/>
            <a:ext cx="504761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82" y="409799"/>
            <a:ext cx="95240" cy="9524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7661" y="361942"/>
            <a:ext cx="811279" cy="2404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770"/>
              </a:lnSpc>
            </a:pPr>
            <a:r>
              <a:rPr lang="en-US" sz="1125" b="1" kern="0" spc="27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US" sz="1125" dirty="0">
              <a:solidFill>
                <a:srgbClr val="E5484D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182" y="2187774"/>
            <a:ext cx="7858125" cy="6762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5154"/>
              </a:lnSpc>
            </a:pPr>
            <a:r>
              <a:rPr lang="en-US" sz="5625" b="1" kern="0" spc="-169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Demonstracija sistema</a:t>
            </a:r>
            <a:endParaRPr lang="en-US" sz="5625" dirty="0"/>
          </a:p>
        </p:txBody>
      </p:sp>
      <p:sp>
        <p:nvSpPr>
          <p:cNvPr id="5" name="Shape 3"/>
          <p:cNvSpPr/>
          <p:nvPr/>
        </p:nvSpPr>
        <p:spPr>
          <a:xfrm>
            <a:off x="457182" y="4472990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182" y="4608711"/>
            <a:ext cx="2105960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Tracker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256216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učenja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66720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6772248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</a:t>
            </a:r>
            <a:r>
              <a:rPr lang="hr-HR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</a:t>
            </a:r>
            <a:endParaRPr lang="en-US" sz="975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3ADB1-348B-C39C-D658-58DB3C4333DE}"/>
              </a:ext>
            </a:extLst>
          </p:cNvPr>
          <p:cNvSpPr txBox="1"/>
          <p:nvPr/>
        </p:nvSpPr>
        <p:spPr>
          <a:xfrm>
            <a:off x="8315307" y="4534767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>
                <a:solidFill>
                  <a:schemeClr val="bg1"/>
                </a:solidFill>
              </a:rPr>
              <a:t>. . . </a:t>
            </a:r>
            <a:endParaRPr lang="en-A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1186</Words>
  <Application>Microsoft Office PowerPoint</Application>
  <PresentationFormat>On-screen Show (16:9)</PresentationFormat>
  <Paragraphs>316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Tmizan — odbrana diplomskog rada</dc:title>
  <dc:subject>PptxGenJS Presentation</dc:subject>
  <dc:creator>Amira Mehić</dc:creator>
  <cp:lastModifiedBy>Maaq</cp:lastModifiedBy>
  <cp:revision>8</cp:revision>
  <dcterms:created xsi:type="dcterms:W3CDTF">2026-08-31T18:21:15Z</dcterms:created>
  <dcterms:modified xsi:type="dcterms:W3CDTF">2026-08-31T23:20:18Z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2026-08-31T18:49:58Z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e063e115-219e-48e4-8e23-d90d7a416a92</vt:lpwstr>
  </property>
  <property fmtid="{D5CDD505-2E9C-101B-9397-08002B2CF9AE}" pid="7" name="MSIP_Label_defa4170-0d19-0005-0004-bc88714345d2_ActionId">
    <vt:lpwstr>2eb2c6ab-cd19-41d4-887f-2dfdb51ec907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