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484D"/>
    <a:srgbClr val="16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6" autoAdjust="0"/>
    <p:restoredTop sz="92978" autoAdjust="0"/>
  </p:normalViewPr>
  <p:slideViewPr>
    <p:cSldViewPr snapToGrid="0" snapToObjects="1">
      <p:cViewPr varScale="1">
        <p:scale>
          <a:sx n="136" d="100"/>
          <a:sy n="136" d="100"/>
        </p:scale>
        <p:origin x="7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34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2475739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TMIZAN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952" y="3127248"/>
            <a:ext cx="1143000" cy="0"/>
          </a:xfrm>
          <a:prstGeom prst="line">
            <a:avLst/>
          </a:prstGeom>
          <a:noFill/>
          <a:ln w="254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731520" y="3310128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Univerzitet u Zenici · Politehnički fakultet · Softversko inženjerstvo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v. prof. dr. Denis Čeke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Studentica: Amira Mehić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4443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Zenica, </a:t>
            </a:r>
            <a:r>
              <a:rPr lang="hr-HR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</a:t>
            </a:r>
            <a:r>
              <a:rPr lang="hr-HR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.2026.</a:t>
            </a:r>
            <a:endParaRPr lang="en-US" sz="10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E5EA6BB-42EE-F445-75FA-69D177D8CB9B}"/>
              </a:ext>
            </a:extLst>
          </p:cNvPr>
          <p:cNvSpPr/>
          <p:nvPr/>
        </p:nvSpPr>
        <p:spPr>
          <a:xfrm>
            <a:off x="704088" y="1554480"/>
            <a:ext cx="817049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310"/>
              </a:lnSpc>
              <a:buNone/>
            </a:pPr>
            <a:r>
              <a:rPr lang="en-US" sz="3600" b="1" kern="0" spc="-144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Razvoj informacionog sistema za evidenciju i planiranje hifza Kur'ana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83543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Sadržaj</a:t>
            </a:r>
            <a:r>
              <a:rPr lang="en-US" sz="2800" b="1" dirty="0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F0F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izlaganja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661309"/>
            <a:ext cx="566928" cy="5669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 txBox="1"/>
          <p:nvPr/>
        </p:nvSpPr>
        <p:spPr>
          <a:xfrm>
            <a:off x="502920" y="1688741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743605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Uvod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709160" y="1661309"/>
            <a:ext cx="566928" cy="5669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4709160" y="1688741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743605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Motivacija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685437"/>
            <a:ext cx="566928" cy="5669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502920" y="2712869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67733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Postavka problema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709160" y="2685437"/>
            <a:ext cx="566928" cy="5669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 txBox="1"/>
          <p:nvPr/>
        </p:nvSpPr>
        <p:spPr>
          <a:xfrm>
            <a:off x="4709160" y="2712869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767733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Razvoj i implementacija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02920" y="3709565"/>
            <a:ext cx="566928" cy="5669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 txBox="1"/>
          <p:nvPr/>
        </p:nvSpPr>
        <p:spPr>
          <a:xfrm>
            <a:off x="502920" y="3736997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791861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Rezultati istraživanja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709160" y="3709565"/>
            <a:ext cx="566928" cy="5669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 txBox="1"/>
          <p:nvPr/>
        </p:nvSpPr>
        <p:spPr>
          <a:xfrm>
            <a:off x="4709160" y="3736997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791861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4E4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541741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A98ED6-C0F1-12FC-F565-051FF8E7E335}"/>
              </a:ext>
            </a:extLst>
          </p:cNvPr>
          <p:cNvSpPr txBox="1"/>
          <p:nvPr/>
        </p:nvSpPr>
        <p:spPr>
          <a:xfrm>
            <a:off x="502920" y="203946"/>
            <a:ext cx="1503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kern="0" spc="144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TMIZAN</a:t>
            </a:r>
            <a:endParaRPr lang="en-AU" sz="900" dirty="0">
              <a:solidFill>
                <a:srgbClr val="E5484D"/>
              </a:solidFill>
            </a:endParaRPr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114DC5E9-0877-894F-CD08-3914DB3B5603}"/>
              </a:ext>
            </a:extLst>
          </p:cNvPr>
          <p:cNvSpPr/>
          <p:nvPr/>
        </p:nvSpPr>
        <p:spPr>
          <a:xfrm>
            <a:off x="502920" y="1237998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705378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UVOD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Šta je </a:t>
            </a:r>
            <a:r>
              <a:rPr lang="en-US" sz="2400" b="1" kern="0" spc="-36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hifz</a:t>
            </a:r>
            <a:r>
              <a:rPr lang="hr-HR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565355" y="1344363"/>
            <a:ext cx="6615" cy="345622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Shape 5"/>
          <p:cNvSpPr/>
          <p:nvPr/>
        </p:nvSpPr>
        <p:spPr>
          <a:xfrm>
            <a:off x="457182" y="2171457"/>
            <a:ext cx="3727215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8" name="Shape 6"/>
          <p:cNvSpPr/>
          <p:nvPr/>
        </p:nvSpPr>
        <p:spPr>
          <a:xfrm>
            <a:off x="444464" y="1702855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>
              <a:solidFill>
                <a:srgbClr val="E5484D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7661" y="1636193"/>
            <a:ext cx="3642837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Hifz </a:t>
            </a: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učenje Kur'ana napamet, proces koji traje godinama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182" y="2631429"/>
            <a:ext cx="3727215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1" name="Shape 9"/>
          <p:cNvSpPr/>
          <p:nvPr/>
        </p:nvSpPr>
        <p:spPr>
          <a:xfrm>
            <a:off x="444464" y="2368551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>
              <a:solidFill>
                <a:srgbClr val="E5484D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7661" y="2301888"/>
            <a:ext cx="3119887" cy="2247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Usvajanje novog gradiva je manji dio posla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182" y="3297125"/>
            <a:ext cx="3727215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4" name="Shape 12"/>
          <p:cNvSpPr/>
          <p:nvPr/>
        </p:nvSpPr>
        <p:spPr>
          <a:xfrm>
            <a:off x="444464" y="2828523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>
              <a:solidFill>
                <a:srgbClr val="E5484D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7661" y="2761860"/>
            <a:ext cx="3642837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Ponavljanje vremenom oduzima više vremena nego učenje novog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182" y="3494219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>
              <a:solidFill>
                <a:srgbClr val="E5484D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7661" y="3427556"/>
            <a:ext cx="3386656" cy="2247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604 stranice · 30 džuzeva · nejednake jedinice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5655" y="1864487"/>
            <a:ext cx="3733881" cy="1750229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4952928" y="3738532"/>
            <a:ext cx="3733881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0" name="Shape 17"/>
          <p:cNvSpPr/>
          <p:nvPr/>
        </p:nvSpPr>
        <p:spPr>
          <a:xfrm>
            <a:off x="4952928" y="3943274"/>
            <a:ext cx="209548" cy="28526"/>
          </a:xfrm>
          <a:prstGeom prst="rect">
            <a:avLst/>
          </a:prstGeom>
          <a:solidFill>
            <a:srgbClr val="9B979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1" name="Text 18"/>
          <p:cNvSpPr/>
          <p:nvPr/>
        </p:nvSpPr>
        <p:spPr>
          <a:xfrm>
            <a:off x="5257715" y="3868963"/>
            <a:ext cx="1779788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vrijeme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učenje novog gradiva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52928" y="4196591"/>
            <a:ext cx="209548" cy="2852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AU" sz="900">
              <a:solidFill>
                <a:srgbClr val="C00000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5257715" y="4122281"/>
            <a:ext cx="123743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vrijeme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ponavljanje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1147568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MOTIVACIJA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Motivacija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444661" y="1344363"/>
            <a:ext cx="6615" cy="345622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Shape 5"/>
          <p:cNvSpPr/>
          <p:nvPr/>
        </p:nvSpPr>
        <p:spPr>
          <a:xfrm>
            <a:off x="457182" y="1879627"/>
            <a:ext cx="353125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8" name="Shape 6"/>
          <p:cNvSpPr/>
          <p:nvPr/>
        </p:nvSpPr>
        <p:spPr>
          <a:xfrm>
            <a:off x="457182" y="1411025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9" name="Text 7"/>
          <p:cNvSpPr/>
          <p:nvPr/>
        </p:nvSpPr>
        <p:spPr>
          <a:xfrm>
            <a:off x="647661" y="1344363"/>
            <a:ext cx="3693904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gotovo svako dugotrajno učenje postoji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softver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 hifz se i dalje koristi sveska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182" y="2029075"/>
            <a:ext cx="3884383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ČETIRI IZVORA PODATAKA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182" y="2301462"/>
            <a:ext cx="965523" cy="319309"/>
          </a:xfrm>
          <a:prstGeom prst="rect">
            <a:avLst/>
          </a:prstGeom>
          <a:solidFill>
            <a:srgbClr val="332F2B"/>
          </a:solidFill>
          <a:ln w="13229">
            <a:solidFill>
              <a:srgbClr val="55504A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13" name="Text 11"/>
          <p:cNvSpPr/>
          <p:nvPr/>
        </p:nvSpPr>
        <p:spPr>
          <a:xfrm>
            <a:off x="568571" y="2365226"/>
            <a:ext cx="780843" cy="2108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lično iskustvo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1479807" y="2301462"/>
            <a:ext cx="1025364" cy="319309"/>
          </a:xfrm>
          <a:prstGeom prst="rect">
            <a:avLst/>
          </a:prstGeom>
          <a:solidFill>
            <a:srgbClr val="332F2B"/>
          </a:solidFill>
          <a:ln w="13229">
            <a:solidFill>
              <a:srgbClr val="55504A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15" name="Text 13"/>
          <p:cNvSpPr/>
          <p:nvPr/>
        </p:nvSpPr>
        <p:spPr>
          <a:xfrm>
            <a:off x="1591196" y="2365226"/>
            <a:ext cx="840685" cy="2108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hafizi i mualimi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578991" y="2679397"/>
            <a:ext cx="1219564" cy="319309"/>
          </a:xfrm>
          <a:prstGeom prst="rect">
            <a:avLst/>
          </a:prstGeom>
          <a:solidFill>
            <a:srgbClr val="332F2B"/>
          </a:solidFill>
          <a:ln w="13229">
            <a:solidFill>
              <a:srgbClr val="55504A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17" name="Text 15"/>
          <p:cNvSpPr/>
          <p:nvPr/>
        </p:nvSpPr>
        <p:spPr>
          <a:xfrm>
            <a:off x="1690380" y="2743161"/>
            <a:ext cx="1034885" cy="2108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postojeća rješenja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457182" y="2677873"/>
            <a:ext cx="1055078" cy="319309"/>
          </a:xfrm>
          <a:prstGeom prst="rect">
            <a:avLst/>
          </a:prstGeom>
          <a:solidFill>
            <a:srgbClr val="332F2B"/>
          </a:solidFill>
          <a:ln w="13229">
            <a:solidFill>
              <a:srgbClr val="55504A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19" name="Text 17"/>
          <p:cNvSpPr/>
          <p:nvPr/>
        </p:nvSpPr>
        <p:spPr>
          <a:xfrm>
            <a:off x="568571" y="2741637"/>
            <a:ext cx="870399" cy="2108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metoda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57182" y="3289463"/>
            <a:ext cx="3884383" cy="4533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7348"/>
              </a:lnSpc>
            </a:pPr>
            <a:r>
              <a:rPr lang="en-US" sz="3600" b="1" kern="0" spc="-108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r>
              <a:rPr lang="hr-HR" sz="3600" b="1" kern="0" spc="-108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en-US" sz="3600" b="1" kern="0" spc="-108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mil</a:t>
            </a:r>
            <a:r>
              <a:rPr lang="hr-HR" sz="3600" b="1" kern="0" spc="-108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iona</a:t>
            </a:r>
            <a:endParaRPr lang="en-US" sz="3600" dirty="0">
              <a:solidFill>
                <a:srgbClr val="E5484D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182" y="3771346"/>
            <a:ext cx="2746978" cy="33903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24062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hafiza u svijetu, prema procjeni portala Riwaq Al Quran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776838" y="4342650"/>
            <a:ext cx="2626706" cy="2758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Tmizan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9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evidencija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hifza po stranicama i ajetima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116E857-777F-5D46-5F58-DF6FC338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755" y="1373378"/>
            <a:ext cx="4244595" cy="29473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1858688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POSTAVKA PROBLEMA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Postojeća rješenja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565355" y="1344363"/>
            <a:ext cx="6615" cy="345622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Shape 5"/>
          <p:cNvSpPr/>
          <p:nvPr/>
        </p:nvSpPr>
        <p:spPr>
          <a:xfrm>
            <a:off x="457182" y="1763407"/>
            <a:ext cx="3727215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8" name="Text 6"/>
          <p:cNvSpPr/>
          <p:nvPr/>
        </p:nvSpPr>
        <p:spPr>
          <a:xfrm>
            <a:off x="457182" y="1344363"/>
            <a:ext cx="926786" cy="3142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pPr>
              <a:lnSpc>
                <a:spcPct val="110222"/>
              </a:lnSpc>
            </a:pPr>
            <a:r>
              <a:rPr lang="en-US" sz="1500" b="1" kern="0" spc="-23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HifzBuddy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3971" y="1430352"/>
            <a:ext cx="2324298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komercijalno · 13,50 USD · </a:t>
            </a:r>
            <a:r>
              <a:rPr lang="en-US" sz="9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kupljen</a:t>
            </a:r>
            <a:r>
              <a:rPr lang="hr-HR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182" y="2223379"/>
            <a:ext cx="3727215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1" name="Shape 9"/>
          <p:cNvSpPr/>
          <p:nvPr/>
        </p:nvSpPr>
        <p:spPr>
          <a:xfrm>
            <a:off x="457182" y="1960501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2" name="Text 10"/>
          <p:cNvSpPr/>
          <p:nvPr/>
        </p:nvSpPr>
        <p:spPr>
          <a:xfrm>
            <a:off x="647661" y="1893838"/>
            <a:ext cx="3633360" cy="2247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Pokriva samo trideseti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džuz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od 604 stranice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182" y="2683351"/>
            <a:ext cx="3727215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4" name="Shape 12"/>
          <p:cNvSpPr/>
          <p:nvPr/>
        </p:nvSpPr>
        <p:spPr>
          <a:xfrm>
            <a:off x="457182" y="2420473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5" name="Text 13"/>
          <p:cNvSpPr/>
          <p:nvPr/>
        </p:nvSpPr>
        <p:spPr>
          <a:xfrm>
            <a:off x="647661" y="2353810"/>
            <a:ext cx="3225106" cy="2247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se izrađuje jednom i dalje se ne mijenja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182" y="3143322"/>
            <a:ext cx="3727215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7" name="Shape 15"/>
          <p:cNvSpPr/>
          <p:nvPr/>
        </p:nvSpPr>
        <p:spPr>
          <a:xfrm>
            <a:off x="457182" y="2880444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8" name="Text 16"/>
          <p:cNvSpPr/>
          <p:nvPr/>
        </p:nvSpPr>
        <p:spPr>
          <a:xfrm>
            <a:off x="647661" y="2813782"/>
            <a:ext cx="3761259" cy="2247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evidencije sigurnosti znanja ni mjesta greške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182" y="3340416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0" name="Text 18"/>
          <p:cNvSpPr/>
          <p:nvPr/>
        </p:nvSpPr>
        <p:spPr>
          <a:xfrm>
            <a:off x="647661" y="3273754"/>
            <a:ext cx="1778083" cy="2247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veze s mualimom</a:t>
            </a: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28" y="1738447"/>
            <a:ext cx="3720652" cy="136405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508603" y="3102498"/>
            <a:ext cx="287616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HifzBuddy</a:t>
            </a:r>
            <a:r>
              <a:rPr lang="hr-HR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prikaz radne aplikacije postojećeg rješenja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1858688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POSTAVKA PROBLEMA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Akteri i zahtjevi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5102066" y="1344363"/>
            <a:ext cx="6615" cy="345622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Shape 5"/>
          <p:cNvSpPr/>
          <p:nvPr/>
        </p:nvSpPr>
        <p:spPr>
          <a:xfrm>
            <a:off x="457182" y="1597680"/>
            <a:ext cx="4263926" cy="1653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8" name="Text 6"/>
          <p:cNvSpPr/>
          <p:nvPr/>
        </p:nvSpPr>
        <p:spPr>
          <a:xfrm>
            <a:off x="457182" y="1344363"/>
            <a:ext cx="167638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ULOGA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71651" y="1344363"/>
            <a:ext cx="2804403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OVLAŠTENJA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182" y="2015588"/>
            <a:ext cx="4263926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1" name="Text 9"/>
          <p:cNvSpPr/>
          <p:nvPr/>
        </p:nvSpPr>
        <p:spPr>
          <a:xfrm>
            <a:off x="457182" y="1718965"/>
            <a:ext cx="1676389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Korisnik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171651" y="1718965"/>
            <a:ext cx="2804403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vlastiti hifz, plan, ponavljanje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457182" y="2423573"/>
            <a:ext cx="4263926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4" name="Text 12"/>
          <p:cNvSpPr/>
          <p:nvPr/>
        </p:nvSpPr>
        <p:spPr>
          <a:xfrm>
            <a:off x="457182" y="2126951"/>
            <a:ext cx="1676389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Mualim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171651" y="2126951"/>
            <a:ext cx="2804403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praćenje učenika, zadaci, sesije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457182" y="2831558"/>
            <a:ext cx="4263926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7" name="Text 15"/>
          <p:cNvSpPr/>
          <p:nvPr/>
        </p:nvSpPr>
        <p:spPr>
          <a:xfrm>
            <a:off x="457182" y="2534936"/>
            <a:ext cx="1676389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Bloger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171651" y="2534936"/>
            <a:ext cx="2804403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izrada i uređivanje objava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457182" y="3239544"/>
            <a:ext cx="4263926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0" name="Text 18"/>
          <p:cNvSpPr/>
          <p:nvPr/>
        </p:nvSpPr>
        <p:spPr>
          <a:xfrm>
            <a:off x="457182" y="2942921"/>
            <a:ext cx="1676389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Moderator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2171651" y="2942921"/>
            <a:ext cx="2804403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podrška, prijave, zahtjevi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457182" y="3647529"/>
            <a:ext cx="4263926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3" name="Text 21"/>
          <p:cNvSpPr/>
          <p:nvPr/>
        </p:nvSpPr>
        <p:spPr>
          <a:xfrm>
            <a:off x="457182" y="3350907"/>
            <a:ext cx="1676389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2171651" y="3350907"/>
            <a:ext cx="2804403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uloge, oglasi, cijeli sistem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57182" y="3768400"/>
            <a:ext cx="4690318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Uloge nisu </a:t>
            </a:r>
            <a:r>
              <a:rPr lang="en-US" sz="9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isključive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9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jedan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nalog može nositi više njih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9639" y="3207246"/>
            <a:ext cx="3197169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30" name="Text 28"/>
          <p:cNvSpPr/>
          <p:nvPr/>
        </p:nvSpPr>
        <p:spPr>
          <a:xfrm>
            <a:off x="5489639" y="3356694"/>
            <a:ext cx="3516886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NEFUNKCIONALNI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9639" y="3629081"/>
            <a:ext cx="1082105" cy="319309"/>
          </a:xfrm>
          <a:prstGeom prst="rect">
            <a:avLst/>
          </a:prstGeom>
          <a:solidFill>
            <a:srgbClr val="332F2B"/>
          </a:solidFill>
          <a:ln w="13229">
            <a:solidFill>
              <a:srgbClr val="55504A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32" name="Text 30"/>
          <p:cNvSpPr/>
          <p:nvPr/>
        </p:nvSpPr>
        <p:spPr>
          <a:xfrm>
            <a:off x="5601029" y="3692846"/>
            <a:ext cx="897426" cy="2108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sigurnost u bazi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6628846" y="3629081"/>
            <a:ext cx="500486" cy="319309"/>
          </a:xfrm>
          <a:prstGeom prst="rect">
            <a:avLst/>
          </a:prstGeom>
          <a:solidFill>
            <a:srgbClr val="332F2B"/>
          </a:solidFill>
          <a:ln w="13229">
            <a:solidFill>
              <a:srgbClr val="55504A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34" name="Text 32"/>
          <p:cNvSpPr/>
          <p:nvPr/>
        </p:nvSpPr>
        <p:spPr>
          <a:xfrm>
            <a:off x="6740236" y="3692846"/>
            <a:ext cx="315807" cy="2108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7186435" y="3629081"/>
            <a:ext cx="982576" cy="319309"/>
          </a:xfrm>
          <a:prstGeom prst="rect">
            <a:avLst/>
          </a:prstGeom>
          <a:solidFill>
            <a:srgbClr val="332F2B"/>
          </a:solidFill>
          <a:ln w="13229">
            <a:solidFill>
              <a:srgbClr val="55504A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36" name="Text 34"/>
          <p:cNvSpPr/>
          <p:nvPr/>
        </p:nvSpPr>
        <p:spPr>
          <a:xfrm>
            <a:off x="7297824" y="3692846"/>
            <a:ext cx="797897" cy="2108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prilagodljivost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5489639" y="4005492"/>
            <a:ext cx="860930" cy="319309"/>
          </a:xfrm>
          <a:prstGeom prst="rect">
            <a:avLst/>
          </a:prstGeom>
          <a:solidFill>
            <a:srgbClr val="332F2B"/>
          </a:solidFill>
          <a:ln w="13229">
            <a:solidFill>
              <a:srgbClr val="55504A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38" name="Text 36"/>
          <p:cNvSpPr/>
          <p:nvPr/>
        </p:nvSpPr>
        <p:spPr>
          <a:xfrm>
            <a:off x="5601029" y="4069257"/>
            <a:ext cx="676250" cy="2108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testabilnost</a:t>
            </a:r>
            <a:endParaRPr lang="en-US" sz="975" dirty="0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42ECF500-CB21-88CB-5D8F-BCE140659F21}"/>
              </a:ext>
            </a:extLst>
          </p:cNvPr>
          <p:cNvSpPr/>
          <p:nvPr/>
        </p:nvSpPr>
        <p:spPr>
          <a:xfrm>
            <a:off x="5673556" y="1344363"/>
            <a:ext cx="2804403" cy="1732208"/>
          </a:xfrm>
          <a:prstGeom prst="roundRect">
            <a:avLst>
              <a:gd name="adj" fmla="val 2857"/>
            </a:avLst>
          </a:prstGeom>
          <a:solidFill>
            <a:srgbClr val="241719"/>
          </a:solidFill>
          <a:ln w="9525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C2CDEE18-94E1-7B98-BD16-68C26B7D0FE1}"/>
              </a:ext>
            </a:extLst>
          </p:cNvPr>
          <p:cNvSpPr txBox="1"/>
          <p:nvPr/>
        </p:nvSpPr>
        <p:spPr>
          <a:xfrm>
            <a:off x="6070719" y="14700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A34910A2-C4A8-2BB8-5725-E60BD1C13DBD}"/>
              </a:ext>
            </a:extLst>
          </p:cNvPr>
          <p:cNvSpPr txBox="1"/>
          <p:nvPr/>
        </p:nvSpPr>
        <p:spPr>
          <a:xfrm>
            <a:off x="6070719" y="21101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funkcionalnih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zahtjeva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0153" y="2633559"/>
            <a:ext cx="905958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kern="0" spc="54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FZ-01 → FZ-12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Arhitektura</a:t>
            </a: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5022536" y="1344363"/>
            <a:ext cx="6615" cy="345622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Shape 5"/>
          <p:cNvSpPr/>
          <p:nvPr/>
        </p:nvSpPr>
        <p:spPr>
          <a:xfrm>
            <a:off x="457182" y="2064422"/>
            <a:ext cx="4184396" cy="477904"/>
          </a:xfrm>
          <a:prstGeom prst="rect">
            <a:avLst/>
          </a:prstGeom>
          <a:solidFill>
            <a:srgbClr val="332F2B"/>
          </a:solidFill>
          <a:ln w="13229">
            <a:solidFill>
              <a:srgbClr val="7A736B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8" name="Text 6"/>
          <p:cNvSpPr/>
          <p:nvPr/>
        </p:nvSpPr>
        <p:spPr>
          <a:xfrm>
            <a:off x="606630" y="2185293"/>
            <a:ext cx="1517851" cy="2552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2267"/>
              </a:lnSpc>
            </a:pPr>
            <a:r>
              <a:rPr lang="en-US" sz="12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Klijentska aplikacija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9739" y="2224981"/>
            <a:ext cx="70662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PWA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182" y="2608988"/>
            <a:ext cx="4184396" cy="395583"/>
          </a:xfrm>
          <a:prstGeom prst="rect">
            <a:avLst/>
          </a:prstGeom>
          <a:ln w="13229">
            <a:solidFill>
              <a:srgbClr val="BAB6B6"/>
            </a:solidFill>
            <a:prstDash val="dash"/>
          </a:ln>
        </p:spPr>
        <p:txBody>
          <a:bodyPr/>
          <a:lstStyle/>
          <a:p>
            <a:endParaRPr lang="en-AU" sz="900"/>
          </a:p>
        </p:txBody>
      </p:sp>
      <p:sp>
        <p:nvSpPr>
          <p:cNvPr id="11" name="Text 9"/>
          <p:cNvSpPr/>
          <p:nvPr/>
        </p:nvSpPr>
        <p:spPr>
          <a:xfrm>
            <a:off x="606630" y="2710842"/>
            <a:ext cx="1385006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b="1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Aplikacijski poslužitelj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054791" y="2720764"/>
            <a:ext cx="475438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ga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182" y="3071234"/>
            <a:ext cx="4184396" cy="477904"/>
          </a:xfrm>
          <a:prstGeom prst="rect">
            <a:avLst/>
          </a:prstGeom>
          <a:solidFill>
            <a:srgbClr val="332F2B"/>
          </a:solidFill>
          <a:ln w="13229">
            <a:solidFill>
              <a:srgbClr val="7A736B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14" name="Text 12"/>
          <p:cNvSpPr/>
          <p:nvPr/>
        </p:nvSpPr>
        <p:spPr>
          <a:xfrm>
            <a:off x="606630" y="3192105"/>
            <a:ext cx="779219" cy="2552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2267"/>
              </a:lnSpc>
            </a:pPr>
            <a:r>
              <a:rPr lang="en-US" sz="12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3358" y="3231793"/>
            <a:ext cx="1197648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· autentifikacija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182" y="3615800"/>
            <a:ext cx="4184396" cy="464675"/>
          </a:xfrm>
          <a:prstGeom prst="rect">
            <a:avLst/>
          </a:prstGeom>
          <a:solidFill>
            <a:srgbClr val="15120F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7" name="Text 15"/>
          <p:cNvSpPr/>
          <p:nvPr/>
        </p:nvSpPr>
        <p:spPr>
          <a:xfrm>
            <a:off x="600015" y="3730057"/>
            <a:ext cx="944862" cy="2552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2267"/>
              </a:lnSpc>
            </a:pPr>
            <a:r>
              <a:rPr lang="en-US" sz="12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5787" y="3769744"/>
            <a:ext cx="120225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FF9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pravila pristupa u bazi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10109" y="2444399"/>
            <a:ext cx="3276699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0" name="Shape 18"/>
          <p:cNvSpPr/>
          <p:nvPr/>
        </p:nvSpPr>
        <p:spPr>
          <a:xfrm>
            <a:off x="5410109" y="2153005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1" name="Text 19"/>
          <p:cNvSpPr/>
          <p:nvPr/>
        </p:nvSpPr>
        <p:spPr>
          <a:xfrm>
            <a:off x="5600589" y="2061485"/>
            <a:ext cx="3178807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sloja, bez vlastitog aplikacijskog poslužitelja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10109" y="3110095"/>
            <a:ext cx="3276699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3" name="Shape 21"/>
          <p:cNvSpPr/>
          <p:nvPr/>
        </p:nvSpPr>
        <p:spPr>
          <a:xfrm>
            <a:off x="5410109" y="2641493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4" name="Text 22"/>
          <p:cNvSpPr/>
          <p:nvPr/>
        </p:nvSpPr>
        <p:spPr>
          <a:xfrm>
            <a:off x="5600589" y="2574830"/>
            <a:ext cx="3178807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preuzima ulogu poslužitelja nad PostgreSQL bazom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10109" y="3775790"/>
            <a:ext cx="3276699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6" name="Shape 24"/>
          <p:cNvSpPr/>
          <p:nvPr/>
        </p:nvSpPr>
        <p:spPr>
          <a:xfrm>
            <a:off x="5410109" y="3307188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7" name="Text 25"/>
          <p:cNvSpPr/>
          <p:nvPr/>
        </p:nvSpPr>
        <p:spPr>
          <a:xfrm>
            <a:off x="5600589" y="3240526"/>
            <a:ext cx="3178807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Provjera prava pristupa izvedena je u samoj bazi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10109" y="3972884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9" name="Text 27"/>
          <p:cNvSpPr/>
          <p:nvPr/>
        </p:nvSpPr>
        <p:spPr>
          <a:xfrm>
            <a:off x="5600589" y="3906222"/>
            <a:ext cx="3214987" cy="2247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Cijena izbora: zavisnost o vanjskoj platformi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Korištene tehnologije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57182" y="1344363"/>
            <a:ext cx="8229627" cy="13041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1100"/>
          </a:p>
        </p:txBody>
      </p:sp>
      <p:sp>
        <p:nvSpPr>
          <p:cNvPr id="7" name="Shape 5"/>
          <p:cNvSpPr/>
          <p:nvPr/>
        </p:nvSpPr>
        <p:spPr>
          <a:xfrm>
            <a:off x="2126775" y="1350978"/>
            <a:ext cx="66257" cy="1981506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8" name="Text 6"/>
          <p:cNvSpPr/>
          <p:nvPr/>
        </p:nvSpPr>
        <p:spPr>
          <a:xfrm>
            <a:off x="457182" y="1522388"/>
            <a:ext cx="1614656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09322"/>
              </a:lnSpc>
            </a:pPr>
            <a:r>
              <a:rPr lang="en-US" sz="11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JEZICI</a:t>
            </a:r>
            <a:endParaRPr lang="en-US" sz="1100" dirty="0">
              <a:solidFill>
                <a:srgbClr val="E5484D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182" y="1804283"/>
            <a:ext cx="1614656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182" y="2031866"/>
            <a:ext cx="1614656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182" y="2259449"/>
            <a:ext cx="1614656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PL/pgSQL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2407" y="1350977"/>
            <a:ext cx="136259" cy="251218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3" name="Text 11"/>
          <p:cNvSpPr/>
          <p:nvPr/>
        </p:nvSpPr>
        <p:spPr>
          <a:xfrm>
            <a:off x="2274487" y="1522388"/>
            <a:ext cx="142616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09322"/>
              </a:lnSpc>
            </a:pPr>
            <a:r>
              <a:rPr lang="en-US" sz="11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KLIJENT</a:t>
            </a:r>
            <a:endParaRPr lang="en-US" sz="1100" dirty="0">
              <a:solidFill>
                <a:srgbClr val="E5484D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74487" y="1804283"/>
            <a:ext cx="1426161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74487" y="2031866"/>
            <a:ext cx="1426161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74487" y="2259449"/>
            <a:ext cx="1426161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3.4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74487" y="2487032"/>
            <a:ext cx="1426161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74487" y="2714615"/>
            <a:ext cx="1426161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react-i18next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88302" y="1350977"/>
            <a:ext cx="136259" cy="251218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0" name="Text 18"/>
          <p:cNvSpPr/>
          <p:nvPr/>
        </p:nvSpPr>
        <p:spPr>
          <a:xfrm>
            <a:off x="3920433" y="1522388"/>
            <a:ext cx="1426104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09322"/>
              </a:lnSpc>
            </a:pPr>
            <a:r>
              <a:rPr lang="en-US" sz="11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PODACI</a:t>
            </a:r>
            <a:endParaRPr lang="en-US" sz="1100" dirty="0">
              <a:solidFill>
                <a:srgbClr val="E5484D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920433" y="1804283"/>
            <a:ext cx="1426104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20433" y="2031866"/>
            <a:ext cx="1426104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7425" y="1350977"/>
            <a:ext cx="76728" cy="1981507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4" name="Text 22"/>
          <p:cNvSpPr/>
          <p:nvPr/>
        </p:nvSpPr>
        <p:spPr>
          <a:xfrm>
            <a:off x="5566327" y="1522388"/>
            <a:ext cx="142616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09322"/>
              </a:lnSpc>
            </a:pPr>
            <a:r>
              <a:rPr lang="en-US" sz="11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ISPORUKA</a:t>
            </a:r>
            <a:endParaRPr lang="en-US" sz="1100" dirty="0">
              <a:solidFill>
                <a:srgbClr val="E5484D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566327" y="1804283"/>
            <a:ext cx="1426161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66327" y="2031866"/>
            <a:ext cx="1426161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12273" y="1522388"/>
            <a:ext cx="16219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09322"/>
              </a:lnSpc>
            </a:pPr>
            <a:r>
              <a:rPr lang="en-US" sz="11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VOĐENJE</a:t>
            </a:r>
            <a:r>
              <a:rPr lang="hr-HR" sz="11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00" dirty="0">
              <a:solidFill>
                <a:srgbClr val="E5484D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12273" y="1804283"/>
            <a:ext cx="1621932" cy="1799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podataka i migracije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949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278292" y="1344363"/>
            <a:ext cx="6615" cy="345622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Shape 5"/>
          <p:cNvSpPr/>
          <p:nvPr/>
        </p:nvSpPr>
        <p:spPr>
          <a:xfrm>
            <a:off x="457182" y="2866285"/>
            <a:ext cx="3440152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8" name="Shape 6"/>
          <p:cNvSpPr/>
          <p:nvPr/>
        </p:nvSpPr>
        <p:spPr>
          <a:xfrm>
            <a:off x="457182" y="2052071"/>
            <a:ext cx="3440152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9" name="Shape 7"/>
          <p:cNvSpPr/>
          <p:nvPr/>
        </p:nvSpPr>
        <p:spPr>
          <a:xfrm>
            <a:off x="1597267" y="2058686"/>
            <a:ext cx="6615" cy="807600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0" name="Text 8"/>
          <p:cNvSpPr/>
          <p:nvPr/>
        </p:nvSpPr>
        <p:spPr>
          <a:xfrm>
            <a:off x="457182" y="2192011"/>
            <a:ext cx="1149331" cy="34476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3958"/>
              </a:lnSpc>
            </a:pPr>
            <a:r>
              <a:rPr lang="en-US" sz="2850" b="1" kern="0" spc="-86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850" dirty="0">
              <a:solidFill>
                <a:srgbClr val="E5484D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182" y="2555813"/>
            <a:ext cx="114933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967" y="2058686"/>
            <a:ext cx="6615" cy="807600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3" name="Text 11"/>
          <p:cNvSpPr/>
          <p:nvPr/>
        </p:nvSpPr>
        <p:spPr>
          <a:xfrm>
            <a:off x="1699121" y="2192011"/>
            <a:ext cx="1044567" cy="34476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3958"/>
              </a:lnSpc>
            </a:pPr>
            <a:r>
              <a:rPr lang="en-US" sz="2850" b="1" kern="0" spc="-86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850" dirty="0">
              <a:solidFill>
                <a:srgbClr val="E5484D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99121" y="2555813"/>
            <a:ext cx="1044567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logičkih cjelina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45821" y="2192011"/>
            <a:ext cx="1156663" cy="34476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3958"/>
              </a:lnSpc>
            </a:pPr>
            <a:r>
              <a:rPr lang="en-US" sz="2850" b="1" kern="0" spc="-86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850" dirty="0">
              <a:solidFill>
                <a:srgbClr val="E5484D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45821" y="2555813"/>
            <a:ext cx="1156663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migracija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182" y="3560506"/>
            <a:ext cx="3440152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8" name="Shape 16"/>
          <p:cNvSpPr/>
          <p:nvPr/>
        </p:nvSpPr>
        <p:spPr>
          <a:xfrm>
            <a:off x="475949" y="3101464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9" name="Text 17"/>
          <p:cNvSpPr/>
          <p:nvPr/>
        </p:nvSpPr>
        <p:spPr>
          <a:xfrm>
            <a:off x="647661" y="3034802"/>
            <a:ext cx="3347163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 se može izgraditi od nule na bilo kojem okruženju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182" y="3748040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1" name="Text 19"/>
          <p:cNvSpPr/>
          <p:nvPr/>
        </p:nvSpPr>
        <p:spPr>
          <a:xfrm>
            <a:off x="647661" y="3681378"/>
            <a:ext cx="3347163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Referentni Kur'anski sadržaj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odvojen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korisničkih podataka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99864" y="4501465"/>
            <a:ext cx="143185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hr-HR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Konceptualni 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dijagram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5457CD7-8AF3-CD2E-CD16-0EDDE2B4B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06" y="1640014"/>
            <a:ext cx="4715067" cy="27883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Sigurnost</a:t>
            </a: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pravila na nivou reda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464999" y="1344363"/>
            <a:ext cx="6615" cy="345622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Text 5"/>
          <p:cNvSpPr/>
          <p:nvPr/>
        </p:nvSpPr>
        <p:spPr>
          <a:xfrm>
            <a:off x="457182" y="1589722"/>
            <a:ext cx="1863519" cy="7071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0313"/>
              </a:lnSpc>
            </a:pPr>
            <a:r>
              <a:rPr lang="en-US" sz="6375" b="1" kern="0" spc="-255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140+</a:t>
            </a:r>
            <a:endParaRPr lang="en-US" sz="6375" dirty="0">
              <a:solidFill>
                <a:srgbClr val="E5484D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270611" y="1895446"/>
            <a:ext cx="2097598" cy="40000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06667"/>
              </a:lnSpc>
            </a:pPr>
            <a:r>
              <a:rPr lang="en-US" sz="12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sigurnosnih pravila na nivou reda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182" y="2615448"/>
            <a:ext cx="3626859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0" name="Shape 8"/>
          <p:cNvSpPr/>
          <p:nvPr/>
        </p:nvSpPr>
        <p:spPr>
          <a:xfrm>
            <a:off x="457182" y="3262023"/>
            <a:ext cx="3626859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1" name="Shape 9"/>
          <p:cNvSpPr/>
          <p:nvPr/>
        </p:nvSpPr>
        <p:spPr>
          <a:xfrm>
            <a:off x="457182" y="2802981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2" name="Text 10"/>
          <p:cNvSpPr/>
          <p:nvPr/>
        </p:nvSpPr>
        <p:spPr>
          <a:xfrm>
            <a:off x="647661" y="2736319"/>
            <a:ext cx="3539471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Svako određuje koje redove korisnik smije vidjeti i mijenjati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182" y="3908599"/>
            <a:ext cx="3626859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4" name="Shape 12"/>
          <p:cNvSpPr/>
          <p:nvPr/>
        </p:nvSpPr>
        <p:spPr>
          <a:xfrm>
            <a:off x="457182" y="3449557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5" name="Text 13"/>
          <p:cNvSpPr/>
          <p:nvPr/>
        </p:nvSpPr>
        <p:spPr>
          <a:xfrm>
            <a:off x="647661" y="3382894"/>
            <a:ext cx="3539471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Pravilo vrijedi pri svakom pristupu, iz bilo kojeg klijenta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182" y="4096132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7" name="Text 15"/>
          <p:cNvSpPr/>
          <p:nvPr/>
        </p:nvSpPr>
        <p:spPr>
          <a:xfrm>
            <a:off x="647661" y="4029470"/>
            <a:ext cx="3539471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Javni ključ u aplikaciji nije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rizik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zaštita se ne oslanja na njegovu tajnost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52572" y="2018792"/>
            <a:ext cx="1750488" cy="414600"/>
          </a:xfrm>
          <a:prstGeom prst="rect">
            <a:avLst/>
          </a:prstGeom>
          <a:ln w="13229">
            <a:solidFill>
              <a:srgbClr val="7A736B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19" name="Text 17"/>
          <p:cNvSpPr/>
          <p:nvPr/>
        </p:nvSpPr>
        <p:spPr>
          <a:xfrm>
            <a:off x="4918654" y="2130181"/>
            <a:ext cx="1618323" cy="2108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Preglednik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6688739" y="2216557"/>
            <a:ext cx="161903" cy="19017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1" name="Shape 19"/>
          <p:cNvSpPr/>
          <p:nvPr/>
        </p:nvSpPr>
        <p:spPr>
          <a:xfrm>
            <a:off x="6936321" y="2018792"/>
            <a:ext cx="1750488" cy="414600"/>
          </a:xfrm>
          <a:prstGeom prst="rect">
            <a:avLst/>
          </a:prstGeom>
          <a:ln w="13229">
            <a:solidFill>
              <a:srgbClr val="7A736B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sp>
        <p:nvSpPr>
          <p:cNvPr id="22" name="Text 20"/>
          <p:cNvSpPr/>
          <p:nvPr/>
        </p:nvSpPr>
        <p:spPr>
          <a:xfrm>
            <a:off x="7002403" y="2130181"/>
            <a:ext cx="1618323" cy="2108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7833062" y="2433392"/>
            <a:ext cx="19017" cy="247634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4" name="Shape 22"/>
          <p:cNvSpPr/>
          <p:nvPr/>
        </p:nvSpPr>
        <p:spPr>
          <a:xfrm>
            <a:off x="4852572" y="2681025"/>
            <a:ext cx="3834236" cy="79612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>
              <a:solidFill>
                <a:srgbClr val="E5484D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14474" y="2823859"/>
            <a:ext cx="3861475" cy="3142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0222"/>
              </a:lnSpc>
            </a:pPr>
            <a:r>
              <a:rPr lang="en-US" sz="1500" b="1" kern="0" spc="-23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pravilo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14474" y="3157172"/>
            <a:ext cx="3861475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F3F2F2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provjera se izvršava u bazi, na svakom redu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87301" y="3477152"/>
            <a:ext cx="19017" cy="247634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8" name="Shape 26"/>
          <p:cNvSpPr/>
          <p:nvPr/>
        </p:nvSpPr>
        <p:spPr>
          <a:xfrm>
            <a:off x="4852572" y="3724786"/>
            <a:ext cx="1743873" cy="401371"/>
          </a:xfrm>
          <a:prstGeom prst="rect">
            <a:avLst/>
          </a:prstGeom>
          <a:solidFill>
            <a:srgbClr val="15120F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9" name="Text 27"/>
          <p:cNvSpPr/>
          <p:nvPr/>
        </p:nvSpPr>
        <p:spPr>
          <a:xfrm>
            <a:off x="4912139" y="3829561"/>
            <a:ext cx="1624739" cy="2108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6682124" y="3915937"/>
            <a:ext cx="161903" cy="19017"/>
          </a:xfrm>
          <a:prstGeom prst="rect">
            <a:avLst/>
          </a:prstGeom>
          <a:solidFill>
            <a:srgbClr val="BAB6B6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31" name="Shape 29"/>
          <p:cNvSpPr/>
          <p:nvPr/>
        </p:nvSpPr>
        <p:spPr>
          <a:xfrm>
            <a:off x="6929706" y="3725509"/>
            <a:ext cx="1757102" cy="399872"/>
          </a:xfrm>
          <a:prstGeom prst="rect">
            <a:avLst/>
          </a:prstGeom>
          <a:ln w="13229">
            <a:solidFill>
              <a:srgbClr val="BAB6B6"/>
            </a:solidFill>
            <a:prstDash val="dash"/>
          </a:ln>
        </p:spPr>
        <p:txBody>
          <a:bodyPr/>
          <a:lstStyle/>
          <a:p>
            <a:endParaRPr lang="en-AU" sz="900"/>
          </a:p>
        </p:txBody>
      </p:sp>
      <p:sp>
        <p:nvSpPr>
          <p:cNvPr id="32" name="Text 30"/>
          <p:cNvSpPr/>
          <p:nvPr/>
        </p:nvSpPr>
        <p:spPr>
          <a:xfrm>
            <a:off x="6995689" y="3836899"/>
            <a:ext cx="1625136" cy="19614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bilo koji drugi klijent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9866" y="361942"/>
            <a:ext cx="175043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</a:t>
            </a:r>
            <a:r>
              <a:rPr lang="en-US" sz="2400" b="1" kern="0" spc="-36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planiranja</a:t>
            </a: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kern="0" spc="-36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zašto</a:t>
            </a:r>
            <a:r>
              <a:rPr lang="hr-HR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 odabrani</a:t>
            </a: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redovi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57182" y="1849603"/>
            <a:ext cx="8229627" cy="1653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Text 5"/>
          <p:cNvSpPr/>
          <p:nvPr/>
        </p:nvSpPr>
        <p:spPr>
          <a:xfrm>
            <a:off x="457182" y="1596285"/>
            <a:ext cx="167638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09322"/>
              </a:lnSpc>
            </a:pPr>
            <a:r>
              <a:rPr lang="en-US" sz="1100" b="1" kern="0" spc="72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JEDINICA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66890" y="1596285"/>
            <a:ext cx="7061910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09322"/>
              </a:lnSpc>
            </a:pPr>
            <a:r>
              <a:rPr lang="hr-HR" sz="1100" b="1" kern="0" spc="72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182" y="2447034"/>
            <a:ext cx="822962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0" name="Text 8"/>
          <p:cNvSpPr/>
          <p:nvPr/>
        </p:nvSpPr>
        <p:spPr>
          <a:xfrm>
            <a:off x="457182" y="2008973"/>
            <a:ext cx="1676389" cy="3142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5273"/>
              </a:lnSpc>
            </a:pPr>
            <a:r>
              <a:rPr lang="en-US" sz="1500" b="1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66890" y="2075119"/>
            <a:ext cx="7061910" cy="21712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0933"/>
              </a:lnSpc>
            </a:pPr>
            <a:r>
              <a:rPr lang="en-US" sz="12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brzina učenja nije konstantna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182" y="3034543"/>
            <a:ext cx="822962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3" name="Text 11"/>
          <p:cNvSpPr/>
          <p:nvPr/>
        </p:nvSpPr>
        <p:spPr>
          <a:xfrm>
            <a:off x="457182" y="2596482"/>
            <a:ext cx="1676389" cy="3142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5273"/>
              </a:lnSpc>
            </a:pPr>
            <a:r>
              <a:rPr lang="en-US" sz="1500" b="1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Ajeti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66890" y="2662628"/>
            <a:ext cx="7061910" cy="21712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0933"/>
              </a:lnSpc>
            </a:pPr>
            <a:r>
              <a:rPr lang="en-US" sz="12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dužina varira od pola reda do cijele stranice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182" y="3622053"/>
            <a:ext cx="822962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6" name="Text 14"/>
          <p:cNvSpPr/>
          <p:nvPr/>
        </p:nvSpPr>
        <p:spPr>
          <a:xfrm>
            <a:off x="457182" y="3183992"/>
            <a:ext cx="1676389" cy="3142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5273"/>
              </a:lnSpc>
            </a:pPr>
            <a:r>
              <a:rPr lang="en-US" sz="1500" b="1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66890" y="3250138"/>
            <a:ext cx="7061910" cy="21712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0933"/>
              </a:lnSpc>
            </a:pPr>
            <a:r>
              <a:rPr lang="en-US" sz="12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pregrube</a:t>
            </a:r>
            <a:r>
              <a:rPr lang="en-US" sz="12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12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većina uči manje od jedne dnevno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5279" y="3628667"/>
            <a:ext cx="8391529" cy="580895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9" name="Text 17"/>
          <p:cNvSpPr/>
          <p:nvPr/>
        </p:nvSpPr>
        <p:spPr>
          <a:xfrm>
            <a:off x="457182" y="3771501"/>
            <a:ext cx="1676389" cy="3142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0222"/>
              </a:lnSpc>
            </a:pPr>
            <a:r>
              <a:rPr lang="en-US" sz="1500" b="1" kern="0" spc="-23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Redovi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66890" y="3837647"/>
            <a:ext cx="6883818" cy="21712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0933"/>
              </a:lnSpc>
            </a:pPr>
            <a:r>
              <a:rPr lang="en-US" sz="12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jedina mjera ujednačena kroz cijeli mushaf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182" y="4371465"/>
            <a:ext cx="9052590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 izračuni u sistemu izvode se u </a:t>
            </a:r>
            <a:r>
              <a:rPr lang="en-US" sz="9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redovima</a:t>
            </a:r>
            <a:r>
              <a:rPr lang="hr-HR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dok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stranice i ajeti služe za prikaz i unos.</a:t>
            </a:r>
            <a:endParaRPr lang="en-US" sz="9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B2D41D9E-1FB4-AE9A-00C3-DB6968775FC2}"/>
              </a:ext>
            </a:extLst>
          </p:cNvPr>
          <p:cNvSpPr txBox="1"/>
          <p:nvPr/>
        </p:nvSpPr>
        <p:spPr>
          <a:xfrm>
            <a:off x="8046946" y="3736235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Čarobnjak i mjesečni raspored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9" name="Shape 17"/>
          <p:cNvSpPr/>
          <p:nvPr/>
        </p:nvSpPr>
        <p:spPr>
          <a:xfrm flipH="1">
            <a:off x="4800145" y="3055444"/>
            <a:ext cx="46435" cy="1186698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5246" y="3228290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2" name="Text 20"/>
          <p:cNvSpPr/>
          <p:nvPr/>
        </p:nvSpPr>
        <p:spPr>
          <a:xfrm>
            <a:off x="525725" y="3194959"/>
            <a:ext cx="4046275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50000"/>
              </a:lnSpc>
            </a:pP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35246" y="3908197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4" name="Text 22"/>
          <p:cNvSpPr/>
          <p:nvPr/>
        </p:nvSpPr>
        <p:spPr>
          <a:xfrm>
            <a:off x="502920" y="3770410"/>
            <a:ext cx="3819021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Odrađeni dani ostaju netaknuti pri ponovnom izračunu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0838" y="3237722"/>
            <a:ext cx="434407" cy="4914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883"/>
              </a:lnSpc>
            </a:pPr>
            <a:r>
              <a:rPr lang="en-US" sz="2400" b="1" kern="0" spc="-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</a:t>
            </a:r>
            <a:endParaRPr lang="en-US" sz="2400" dirty="0">
              <a:solidFill>
                <a:srgbClr val="E5484D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10854" y="3659440"/>
            <a:ext cx="2818823" cy="34089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13191"/>
              </a:lnSpc>
            </a:pPr>
            <a:r>
              <a:rPr lang="en-US" sz="11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stranice </a:t>
            </a:r>
            <a:r>
              <a:rPr lang="en-US" sz="11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dnevno</a:t>
            </a:r>
            <a:r>
              <a:rPr lang="en-US" sz="11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11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1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preporučena</a:t>
            </a:r>
            <a:endParaRPr lang="hr-HR" sz="1100" dirty="0">
              <a:solidFill>
                <a:srgbClr val="B5AEA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ct val="113191"/>
              </a:lnSpc>
            </a:pPr>
            <a:r>
              <a:rPr lang="en-US" sz="1100" dirty="0" err="1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granica</a:t>
            </a:r>
            <a:r>
              <a:rPr lang="en-US" sz="11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tempa</a:t>
            </a:r>
            <a:endParaRPr lang="en-US" sz="110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77BF9029-9ECD-C770-E32D-7ABC52BEC241}"/>
              </a:ext>
            </a:extLst>
          </p:cNvPr>
          <p:cNvSpPr/>
          <p:nvPr/>
        </p:nvSpPr>
        <p:spPr>
          <a:xfrm>
            <a:off x="502920" y="1481328"/>
            <a:ext cx="1422806" cy="1051560"/>
          </a:xfrm>
          <a:prstGeom prst="roundRect">
            <a:avLst>
              <a:gd name="adj" fmla="val 6087"/>
            </a:avLst>
          </a:prstGeom>
          <a:solidFill>
            <a:srgbClr val="222222"/>
          </a:solidFill>
          <a:ln w="9525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E6F522B1-BE8B-A466-EBDF-A7D487C3047F}"/>
              </a:ext>
            </a:extLst>
          </p:cNvPr>
          <p:cNvSpPr txBox="1"/>
          <p:nvPr/>
        </p:nvSpPr>
        <p:spPr>
          <a:xfrm>
            <a:off x="576072" y="1554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A78E7B82-2964-4429-B886-84ABEFB4E5B9}"/>
              </a:ext>
            </a:extLst>
          </p:cNvPr>
          <p:cNvSpPr txBox="1"/>
          <p:nvPr/>
        </p:nvSpPr>
        <p:spPr>
          <a:xfrm>
            <a:off x="576072" y="1828800"/>
            <a:ext cx="12765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Izdanje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mushafa</a:t>
            </a:r>
            <a:endParaRPr lang="en-US" sz="1200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319821F0-2FA0-555D-5C6E-7D3930F1C6B6}"/>
              </a:ext>
            </a:extLst>
          </p:cNvPr>
          <p:cNvSpPr txBox="1"/>
          <p:nvPr/>
        </p:nvSpPr>
        <p:spPr>
          <a:xfrm>
            <a:off x="1953158" y="1783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1D53A94E-1211-222F-1E9B-1AE61AA71EB5}"/>
              </a:ext>
            </a:extLst>
          </p:cNvPr>
          <p:cNvSpPr/>
          <p:nvPr/>
        </p:nvSpPr>
        <p:spPr>
          <a:xfrm>
            <a:off x="2181758" y="1481328"/>
            <a:ext cx="1422806" cy="1051560"/>
          </a:xfrm>
          <a:prstGeom prst="roundRect">
            <a:avLst>
              <a:gd name="adj" fmla="val 6087"/>
            </a:avLst>
          </a:prstGeom>
          <a:solidFill>
            <a:srgbClr val="222222"/>
          </a:solidFill>
          <a:ln w="9525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D6D9B416-918C-9BDC-9B84-1550626B1EC6}"/>
              </a:ext>
            </a:extLst>
          </p:cNvPr>
          <p:cNvSpPr txBox="1"/>
          <p:nvPr/>
        </p:nvSpPr>
        <p:spPr>
          <a:xfrm>
            <a:off x="2254910" y="1554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CE31ED3C-00A4-7FF7-70CD-835AFC2EBF31}"/>
              </a:ext>
            </a:extLst>
          </p:cNvPr>
          <p:cNvSpPr txBox="1"/>
          <p:nvPr/>
        </p:nvSpPr>
        <p:spPr>
          <a:xfrm>
            <a:off x="2254910" y="1828800"/>
            <a:ext cx="12765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Opseg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učenja</a:t>
            </a:r>
            <a:endParaRPr lang="en-US" sz="12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B43147DE-C44F-AADE-908C-CFE4D2437A35}"/>
              </a:ext>
            </a:extLst>
          </p:cNvPr>
          <p:cNvSpPr txBox="1"/>
          <p:nvPr/>
        </p:nvSpPr>
        <p:spPr>
          <a:xfrm>
            <a:off x="3631997" y="1783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D4953F3C-EBA7-0936-39B9-53BB28308C23}"/>
              </a:ext>
            </a:extLst>
          </p:cNvPr>
          <p:cNvSpPr/>
          <p:nvPr/>
        </p:nvSpPr>
        <p:spPr>
          <a:xfrm>
            <a:off x="3860597" y="1481328"/>
            <a:ext cx="1422806" cy="1051560"/>
          </a:xfrm>
          <a:prstGeom prst="roundRect">
            <a:avLst>
              <a:gd name="adj" fmla="val 6087"/>
            </a:avLst>
          </a:prstGeom>
          <a:solidFill>
            <a:srgbClr val="222222"/>
          </a:solidFill>
          <a:ln w="9525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2E99112F-3366-5C24-66E1-49FC470AC197}"/>
              </a:ext>
            </a:extLst>
          </p:cNvPr>
          <p:cNvSpPr txBox="1"/>
          <p:nvPr/>
        </p:nvSpPr>
        <p:spPr>
          <a:xfrm>
            <a:off x="3933749" y="1554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DDAE44F8-27A9-3AA4-E7CD-DED9D6622701}"/>
              </a:ext>
            </a:extLst>
          </p:cNvPr>
          <p:cNvSpPr txBox="1"/>
          <p:nvPr/>
        </p:nvSpPr>
        <p:spPr>
          <a:xfrm>
            <a:off x="3933749" y="1828800"/>
            <a:ext cx="12765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Dnevni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kapacitet</a:t>
            </a:r>
            <a:endParaRPr lang="en-US" sz="1200" dirty="0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CB3151E9-520C-DBF1-A1C7-2E6FC05EB451}"/>
              </a:ext>
            </a:extLst>
          </p:cNvPr>
          <p:cNvSpPr txBox="1"/>
          <p:nvPr/>
        </p:nvSpPr>
        <p:spPr>
          <a:xfrm>
            <a:off x="5310835" y="1783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EECF1211-25AA-13EF-9099-B1F392158186}"/>
              </a:ext>
            </a:extLst>
          </p:cNvPr>
          <p:cNvSpPr/>
          <p:nvPr/>
        </p:nvSpPr>
        <p:spPr>
          <a:xfrm>
            <a:off x="5539435" y="1481328"/>
            <a:ext cx="1422806" cy="1051560"/>
          </a:xfrm>
          <a:prstGeom prst="roundRect">
            <a:avLst>
              <a:gd name="adj" fmla="val 6087"/>
            </a:avLst>
          </a:prstGeom>
          <a:solidFill>
            <a:srgbClr val="222222"/>
          </a:solidFill>
          <a:ln w="9525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81EAB74B-08A9-339E-D3B5-77AFA96CCEF5}"/>
              </a:ext>
            </a:extLst>
          </p:cNvPr>
          <p:cNvSpPr txBox="1"/>
          <p:nvPr/>
        </p:nvSpPr>
        <p:spPr>
          <a:xfrm>
            <a:off x="5612587" y="1554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2" name="Text 16">
            <a:extLst>
              <a:ext uri="{FF2B5EF4-FFF2-40B4-BE49-F238E27FC236}">
                <a16:creationId xmlns:a16="http://schemas.microsoft.com/office/drawing/2014/main" id="{52D16B83-CB4A-BAA7-9303-F6832584C283}"/>
              </a:ext>
            </a:extLst>
          </p:cNvPr>
          <p:cNvSpPr txBox="1"/>
          <p:nvPr/>
        </p:nvSpPr>
        <p:spPr>
          <a:xfrm>
            <a:off x="5612587" y="1828800"/>
            <a:ext cx="12765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 tempo</a:t>
            </a:r>
            <a:endParaRPr lang="en-US" sz="1200" dirty="0"/>
          </a:p>
        </p:txBody>
      </p:sp>
      <p:sp>
        <p:nvSpPr>
          <p:cNvPr id="64" name="Text 17">
            <a:extLst>
              <a:ext uri="{FF2B5EF4-FFF2-40B4-BE49-F238E27FC236}">
                <a16:creationId xmlns:a16="http://schemas.microsoft.com/office/drawing/2014/main" id="{44D3122C-A416-477E-9D3A-AD45C02D2BA1}"/>
              </a:ext>
            </a:extLst>
          </p:cNvPr>
          <p:cNvSpPr txBox="1"/>
          <p:nvPr/>
        </p:nvSpPr>
        <p:spPr>
          <a:xfrm>
            <a:off x="6989674" y="17830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C60B6582-F99F-2752-FF84-B86F13730617}"/>
              </a:ext>
            </a:extLst>
          </p:cNvPr>
          <p:cNvSpPr/>
          <p:nvPr/>
        </p:nvSpPr>
        <p:spPr>
          <a:xfrm>
            <a:off x="7218274" y="1481328"/>
            <a:ext cx="1422806" cy="1051560"/>
          </a:xfrm>
          <a:prstGeom prst="roundRect">
            <a:avLst>
              <a:gd name="adj" fmla="val 6087"/>
            </a:avLst>
          </a:prstGeom>
          <a:solidFill>
            <a:srgbClr val="E5484D"/>
          </a:solidFill>
          <a:ln w="9525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8" name="Text 19">
            <a:extLst>
              <a:ext uri="{FF2B5EF4-FFF2-40B4-BE49-F238E27FC236}">
                <a16:creationId xmlns:a16="http://schemas.microsoft.com/office/drawing/2014/main" id="{E653DD46-7D1E-ACBD-18A6-87DEF6FC6A22}"/>
              </a:ext>
            </a:extLst>
          </p:cNvPr>
          <p:cNvSpPr txBox="1"/>
          <p:nvPr/>
        </p:nvSpPr>
        <p:spPr>
          <a:xfrm>
            <a:off x="7291426" y="1554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1FD3E6EA-2FEF-97C1-5BB9-EB55F1423B37}"/>
              </a:ext>
            </a:extLst>
          </p:cNvPr>
          <p:cNvSpPr txBox="1"/>
          <p:nvPr/>
        </p:nvSpPr>
        <p:spPr>
          <a:xfrm>
            <a:off x="7291426" y="1828800"/>
            <a:ext cx="12765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Mjesečni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raspored</a:t>
            </a:r>
            <a:endParaRPr lang="en-US" sz="12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15ADC79-A315-CC73-E5F3-02F8F6E261A0}"/>
              </a:ext>
            </a:extLst>
          </p:cNvPr>
          <p:cNvSpPr txBox="1"/>
          <p:nvPr/>
        </p:nvSpPr>
        <p:spPr>
          <a:xfrm>
            <a:off x="450765" y="3055444"/>
            <a:ext cx="4248369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Korisnik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zaključava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datum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završetka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ili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tempo </a:t>
            </a:r>
            <a:r>
              <a:rPr lang="hr-HR" sz="1200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istem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izračunava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drugu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veličinu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provjerava</a:t>
            </a: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je li </a:t>
            </a:r>
            <a:r>
              <a:rPr lang="en-US" sz="1200" dirty="0" err="1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realna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Ponavljanje</a:t>
            </a: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dva stanja gradiva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57182" y="1902571"/>
            <a:ext cx="822962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Text 5"/>
          <p:cNvSpPr/>
          <p:nvPr/>
        </p:nvSpPr>
        <p:spPr>
          <a:xfrm>
            <a:off x="457182" y="2080597"/>
            <a:ext cx="1447250" cy="3142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0222"/>
              </a:lnSpc>
            </a:pPr>
            <a:r>
              <a:rPr lang="en-US" sz="1500" b="1" kern="0" spc="-23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Svježe naučeno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39840" y="2287878"/>
            <a:ext cx="2536983" cy="21399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37354"/>
              </a:lnSpc>
            </a:pPr>
            <a:r>
              <a:rPr lang="en-US" sz="11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rastući razmaci · pojedinačna stranica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182" y="2551989"/>
            <a:ext cx="8229627" cy="19017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0" name="Shape 8"/>
          <p:cNvSpPr/>
          <p:nvPr/>
        </p:nvSpPr>
        <p:spPr>
          <a:xfrm>
            <a:off x="457182" y="2499589"/>
            <a:ext cx="123817" cy="1238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1" name="Shape 9"/>
          <p:cNvSpPr/>
          <p:nvPr/>
        </p:nvSpPr>
        <p:spPr>
          <a:xfrm>
            <a:off x="868629" y="2499589"/>
            <a:ext cx="123817" cy="1238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2" name="Shape 10"/>
          <p:cNvSpPr/>
          <p:nvPr/>
        </p:nvSpPr>
        <p:spPr>
          <a:xfrm>
            <a:off x="1526987" y="2499589"/>
            <a:ext cx="123817" cy="1238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3" name="Shape 11"/>
          <p:cNvSpPr/>
          <p:nvPr/>
        </p:nvSpPr>
        <p:spPr>
          <a:xfrm>
            <a:off x="2596844" y="2499589"/>
            <a:ext cx="123817" cy="1238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4" name="Shape 12"/>
          <p:cNvSpPr/>
          <p:nvPr/>
        </p:nvSpPr>
        <p:spPr>
          <a:xfrm>
            <a:off x="4325059" y="2499589"/>
            <a:ext cx="123817" cy="1238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5" name="Shape 13"/>
          <p:cNvSpPr/>
          <p:nvPr/>
        </p:nvSpPr>
        <p:spPr>
          <a:xfrm>
            <a:off x="7123131" y="2499589"/>
            <a:ext cx="123817" cy="1238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6" name="Shape 14"/>
          <p:cNvSpPr/>
          <p:nvPr/>
        </p:nvSpPr>
        <p:spPr>
          <a:xfrm>
            <a:off x="457182" y="2890108"/>
            <a:ext cx="822962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7" name="Text 15"/>
          <p:cNvSpPr/>
          <p:nvPr/>
        </p:nvSpPr>
        <p:spPr>
          <a:xfrm>
            <a:off x="457182" y="3068133"/>
            <a:ext cx="1545534" cy="31427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pPr>
              <a:lnSpc>
                <a:spcPct val="110222"/>
              </a:lnSpc>
            </a:pPr>
            <a:r>
              <a:rPr lang="en-US" sz="1500" b="1" kern="0" spc="-23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Utvrđeno gradivo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39840" y="3238326"/>
            <a:ext cx="2520023" cy="18060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37354"/>
              </a:lnSpc>
            </a:pPr>
            <a:r>
              <a:rPr lang="en-US" sz="11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ravnomjeran prolaz · skup stranica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182" y="3539526"/>
            <a:ext cx="8229627" cy="19017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0" name="Shape 18"/>
          <p:cNvSpPr/>
          <p:nvPr/>
        </p:nvSpPr>
        <p:spPr>
          <a:xfrm>
            <a:off x="457182" y="3487126"/>
            <a:ext cx="123817" cy="123817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1" name="Shape 19"/>
          <p:cNvSpPr/>
          <p:nvPr/>
        </p:nvSpPr>
        <p:spPr>
          <a:xfrm>
            <a:off x="1773897" y="3487126"/>
            <a:ext cx="123817" cy="123817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2" name="Shape 20"/>
          <p:cNvSpPr/>
          <p:nvPr/>
        </p:nvSpPr>
        <p:spPr>
          <a:xfrm>
            <a:off x="3090612" y="3487126"/>
            <a:ext cx="123817" cy="123817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3" name="Shape 21"/>
          <p:cNvSpPr/>
          <p:nvPr/>
        </p:nvSpPr>
        <p:spPr>
          <a:xfrm>
            <a:off x="4407380" y="3487126"/>
            <a:ext cx="123817" cy="123817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4" name="Shape 22"/>
          <p:cNvSpPr/>
          <p:nvPr/>
        </p:nvSpPr>
        <p:spPr>
          <a:xfrm>
            <a:off x="5724095" y="3487126"/>
            <a:ext cx="123817" cy="123817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5" name="Shape 23"/>
          <p:cNvSpPr/>
          <p:nvPr/>
        </p:nvSpPr>
        <p:spPr>
          <a:xfrm>
            <a:off x="7040862" y="3487126"/>
            <a:ext cx="123817" cy="123817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6" name="Shape 24"/>
          <p:cNvSpPr/>
          <p:nvPr/>
        </p:nvSpPr>
        <p:spPr>
          <a:xfrm>
            <a:off x="457182" y="3877645"/>
            <a:ext cx="822962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7" name="Text 25"/>
          <p:cNvSpPr/>
          <p:nvPr/>
        </p:nvSpPr>
        <p:spPr>
          <a:xfrm>
            <a:off x="457182" y="4036659"/>
            <a:ext cx="8476516" cy="2247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28769"/>
              </a:lnSpc>
            </a:pP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pravilo ne može pokriti oba </a:t>
            </a:r>
            <a:r>
              <a:rPr lang="en-US" sz="14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stanja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daje loš rezultat u oba slučaja.</a:t>
            </a:r>
            <a:endParaRPr lang="en-US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A i Motor 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57182" y="1344363"/>
            <a:ext cx="822962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1" name="Text 19"/>
          <p:cNvSpPr/>
          <p:nvPr/>
        </p:nvSpPr>
        <p:spPr>
          <a:xfrm>
            <a:off x="742927" y="4076053"/>
            <a:ext cx="431673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37354"/>
              </a:lnSpc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Petnaest metoda ponavljanja i četiri metode učenja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2927" y="4548971"/>
            <a:ext cx="4316796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37354"/>
              </a:lnSpc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</a:t>
            </a:r>
            <a:r>
              <a:rPr lang="en-US" sz="12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metoda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dopuna konfiguracije, bez izmjene motora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A4D43FBE-B458-CD67-747B-127F9D033AFC}"/>
              </a:ext>
            </a:extLst>
          </p:cNvPr>
          <p:cNvSpPr/>
          <p:nvPr/>
        </p:nvSpPr>
        <p:spPr>
          <a:xfrm>
            <a:off x="396674" y="1632324"/>
            <a:ext cx="3931920" cy="2148840"/>
          </a:xfrm>
          <a:prstGeom prst="roundRect">
            <a:avLst>
              <a:gd name="adj" fmla="val 2553"/>
            </a:avLst>
          </a:prstGeom>
          <a:solidFill>
            <a:srgbClr val="E5484D">
              <a:alpha val="27000"/>
            </a:srgbClr>
          </a:solidFill>
          <a:ln w="9525">
            <a:solidFill>
              <a:srgbClr val="D5DE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7E56B02A-9801-316B-1855-AA2D90A115CD}"/>
              </a:ext>
            </a:extLst>
          </p:cNvPr>
          <p:cNvSpPr txBox="1"/>
          <p:nvPr/>
        </p:nvSpPr>
        <p:spPr>
          <a:xfrm>
            <a:off x="652706" y="18152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A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59B106F3-819C-3698-802E-5CA84A7E858C}"/>
              </a:ext>
            </a:extLst>
          </p:cNvPr>
          <p:cNvSpPr txBox="1"/>
          <p:nvPr/>
        </p:nvSpPr>
        <p:spPr>
          <a:xfrm>
            <a:off x="652706" y="21626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Ciklično po stranicama</a:t>
            </a:r>
            <a:endParaRPr lang="en-US" sz="1200" dirty="0">
              <a:solidFill>
                <a:srgbClr val="E5484D"/>
              </a:solidFill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F6BC7151-F766-7F2B-4BC0-020DA320D319}"/>
              </a:ext>
            </a:extLst>
          </p:cNvPr>
          <p:cNvSpPr txBox="1"/>
          <p:nvPr/>
        </p:nvSpPr>
        <p:spPr>
          <a:xfrm>
            <a:off x="652706" y="2501004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Pokriva održavanje utvrđenog gradiva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Dnevna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količina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veličina skupa ÷ dužina ciklusa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stranica nosi vlastiti datum sljedećeg ponavljanja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A3DE4396-B106-9014-608B-C35D4A32E0D1}"/>
              </a:ext>
            </a:extLst>
          </p:cNvPr>
          <p:cNvSpPr/>
          <p:nvPr/>
        </p:nvSpPr>
        <p:spPr>
          <a:xfrm>
            <a:off x="4701203" y="1650492"/>
            <a:ext cx="3931920" cy="2148840"/>
          </a:xfrm>
          <a:prstGeom prst="roundRect">
            <a:avLst>
              <a:gd name="adj" fmla="val 2553"/>
            </a:avLst>
          </a:prstGeom>
          <a:solidFill>
            <a:srgbClr val="E5484D">
              <a:alpha val="27000"/>
            </a:srgbClr>
          </a:solidFill>
          <a:ln w="9525">
            <a:solidFill>
              <a:srgbClr val="D5DED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D5CF513C-2CEF-EFB9-2353-701A5334D941}"/>
              </a:ext>
            </a:extLst>
          </p:cNvPr>
          <p:cNvSpPr txBox="1"/>
          <p:nvPr/>
        </p:nvSpPr>
        <p:spPr>
          <a:xfrm>
            <a:off x="4957235" y="18333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B</a:t>
            </a:r>
            <a:endParaRPr lang="en-US" sz="1900" dirty="0">
              <a:solidFill>
                <a:schemeClr val="bg1"/>
              </a:solidFill>
            </a:endParaRPr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38C9F7BC-E692-97D7-31D9-BE0A37B88169}"/>
              </a:ext>
            </a:extLst>
          </p:cNvPr>
          <p:cNvSpPr txBox="1"/>
          <p:nvPr/>
        </p:nvSpPr>
        <p:spPr>
          <a:xfrm>
            <a:off x="4957235" y="21808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Intervalni blokovi</a:t>
            </a:r>
            <a:endParaRPr lang="en-US" sz="1200" dirty="0">
              <a:solidFill>
                <a:srgbClr val="E5484D"/>
              </a:solidFill>
            </a:endParaRP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DAC959E2-21A1-8813-D9EF-20EAC59492C0}"/>
              </a:ext>
            </a:extLst>
          </p:cNvPr>
          <p:cNvSpPr txBox="1"/>
          <p:nvPr/>
        </p:nvSpPr>
        <p:spPr>
          <a:xfrm>
            <a:off x="4957235" y="2519172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Izvršava intervalne metode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Razmaci se čuvaju u satima, ne danima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napreduje pri uspjehu, vraća se pri grešci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682A99A6-4DBF-E675-28BA-0E85440F5923}"/>
              </a:ext>
            </a:extLst>
          </p:cNvPr>
          <p:cNvSpPr/>
          <p:nvPr/>
        </p:nvSpPr>
        <p:spPr>
          <a:xfrm>
            <a:off x="586043" y="4175442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272332C1-2DC3-AAB4-B2B9-8FF0E5CD899D}"/>
              </a:ext>
            </a:extLst>
          </p:cNvPr>
          <p:cNvSpPr/>
          <p:nvPr/>
        </p:nvSpPr>
        <p:spPr>
          <a:xfrm>
            <a:off x="578955" y="4675421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Prelazak između motora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57182" y="1977657"/>
            <a:ext cx="3019454" cy="1409578"/>
          </a:xfrm>
          <a:prstGeom prst="rect">
            <a:avLst/>
          </a:prstGeom>
          <a:solidFill>
            <a:srgbClr val="15120F"/>
          </a:solidFill>
          <a:ln/>
        </p:spPr>
        <p:txBody>
          <a:bodyPr/>
          <a:lstStyle/>
          <a:p>
            <a:endParaRPr lang="en-AU" sz="900" dirty="0"/>
          </a:p>
        </p:txBody>
      </p:sp>
      <p:sp>
        <p:nvSpPr>
          <p:cNvPr id="7" name="Text 5"/>
          <p:cNvSpPr/>
          <p:nvPr/>
        </p:nvSpPr>
        <p:spPr>
          <a:xfrm>
            <a:off x="666730" y="2225291"/>
            <a:ext cx="2860394" cy="44005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0330"/>
              </a:lnSpc>
            </a:pPr>
            <a:r>
              <a:rPr lang="en-US" sz="3900" b="1" kern="0" spc="-156" dirty="0">
                <a:solidFill>
                  <a:srgbClr val="FF9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666730" y="2712961"/>
            <a:ext cx="2860394" cy="20188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02400"/>
              </a:lnSpc>
            </a:pPr>
            <a:r>
              <a:rPr lang="en-US" sz="12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Intervalni blokovi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6730" y="2962455"/>
            <a:ext cx="2860394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F3F2F2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svježe naučeno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45192" y="2234954"/>
            <a:ext cx="2053606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/>
            <a:r>
              <a:rPr lang="en-US" sz="900" b="1" dirty="0" err="1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</a:t>
            </a:r>
            <a:r>
              <a:rPr lang="en-US" sz="9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prošao</a:t>
            </a:r>
            <a:r>
              <a:rPr lang="en-US" sz="9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posljednji</a:t>
            </a:r>
            <a:r>
              <a:rPr lang="en-US" sz="9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razmak</a:t>
            </a:r>
            <a:r>
              <a:rPr lang="en-US" sz="9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bez </a:t>
            </a:r>
            <a:r>
              <a:rPr lang="en-US" sz="900" b="1" dirty="0" err="1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greške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38538" y="2523464"/>
            <a:ext cx="1764389" cy="23771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2" name="Shape 10"/>
          <p:cNvSpPr/>
          <p:nvPr/>
        </p:nvSpPr>
        <p:spPr>
          <a:xfrm>
            <a:off x="5402926" y="2469203"/>
            <a:ext cx="102526" cy="132292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lstStyle/>
          <a:p>
            <a:endParaRPr lang="en-AU" sz="900">
              <a:solidFill>
                <a:srgbClr val="E5484D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38538" y="2763397"/>
            <a:ext cx="102526" cy="132292"/>
          </a:xfrm>
          <a:prstGeom prst="rect">
            <a:avLst/>
          </a:prstGeom>
          <a:solidFill>
            <a:srgbClr val="D7D3D3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4" name="Shape 12"/>
          <p:cNvSpPr/>
          <p:nvPr/>
        </p:nvSpPr>
        <p:spPr>
          <a:xfrm>
            <a:off x="3741064" y="2817658"/>
            <a:ext cx="1764389" cy="23771"/>
          </a:xfrm>
          <a:prstGeom prst="rect">
            <a:avLst/>
          </a:prstGeom>
          <a:solidFill>
            <a:srgbClr val="EAE7E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5" name="Text 13"/>
          <p:cNvSpPr/>
          <p:nvPr/>
        </p:nvSpPr>
        <p:spPr>
          <a:xfrm>
            <a:off x="3545192" y="2952792"/>
            <a:ext cx="2053606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greške u ciklusu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7354" y="1977657"/>
            <a:ext cx="3019454" cy="1409578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7" name="Text 15"/>
          <p:cNvSpPr/>
          <p:nvPr/>
        </p:nvSpPr>
        <p:spPr>
          <a:xfrm>
            <a:off x="5876903" y="2225291"/>
            <a:ext cx="2860394" cy="44005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0330"/>
              </a:lnSpc>
            </a:pPr>
            <a:r>
              <a:rPr lang="en-US" sz="3900" b="1" kern="0" spc="-15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5876903" y="2712961"/>
            <a:ext cx="2860394" cy="20188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02400"/>
              </a:lnSpc>
            </a:pPr>
            <a:r>
              <a:rPr lang="en-US" sz="12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Ciklično po stranicama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76903" y="2962455"/>
            <a:ext cx="2860394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F3F2F2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režim održavanja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182" y="3596783"/>
            <a:ext cx="822962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1" name="Shape 19"/>
          <p:cNvSpPr/>
          <p:nvPr/>
        </p:nvSpPr>
        <p:spPr>
          <a:xfrm>
            <a:off x="4565355" y="3755792"/>
            <a:ext cx="6615" cy="411448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2" name="Text 20"/>
          <p:cNvSpPr/>
          <p:nvPr/>
        </p:nvSpPr>
        <p:spPr>
          <a:xfrm>
            <a:off x="457182" y="3755792"/>
            <a:ext cx="3850617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Pravilo vrijedi iznad svih metoda, bez obzira šta je korisnik odabrao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2969" y="3755792"/>
            <a:ext cx="3857285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Gradivo kruži prema stvarnom stanju znanja, ne prema unaprijed zadanom rasporedu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višestruke pohrane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852417" y="1344363"/>
            <a:ext cx="6615" cy="345622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Shape 5"/>
          <p:cNvSpPr/>
          <p:nvPr/>
        </p:nvSpPr>
        <p:spPr>
          <a:xfrm>
            <a:off x="457182" y="3175000"/>
            <a:ext cx="532629" cy="266651"/>
          </a:xfrm>
          <a:prstGeom prst="rect">
            <a:avLst/>
          </a:prstGeom>
          <a:solidFill>
            <a:srgbClr val="4A443E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8" name="Text 6"/>
          <p:cNvSpPr/>
          <p:nvPr/>
        </p:nvSpPr>
        <p:spPr>
          <a:xfrm>
            <a:off x="438132" y="3498753"/>
            <a:ext cx="57072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37405" y="2984469"/>
            <a:ext cx="532681" cy="457182"/>
          </a:xfrm>
          <a:prstGeom prst="rect">
            <a:avLst/>
          </a:prstGeom>
          <a:solidFill>
            <a:srgbClr val="5E574F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0" name="Text 8"/>
          <p:cNvSpPr/>
          <p:nvPr/>
        </p:nvSpPr>
        <p:spPr>
          <a:xfrm>
            <a:off x="1018355" y="3498753"/>
            <a:ext cx="57078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17679" y="2793990"/>
            <a:ext cx="532681" cy="647661"/>
          </a:xfrm>
          <a:prstGeom prst="rect">
            <a:avLst/>
          </a:prstGeom>
          <a:solidFill>
            <a:srgbClr val="736B62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2" name="Text 10"/>
          <p:cNvSpPr/>
          <p:nvPr/>
        </p:nvSpPr>
        <p:spPr>
          <a:xfrm>
            <a:off x="1598629" y="3498753"/>
            <a:ext cx="57078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7954" y="2603459"/>
            <a:ext cx="532681" cy="838192"/>
          </a:xfrm>
          <a:prstGeom prst="rect">
            <a:avLst/>
          </a:prstGeom>
          <a:solidFill>
            <a:srgbClr val="8A8177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4" name="Text 12"/>
          <p:cNvSpPr/>
          <p:nvPr/>
        </p:nvSpPr>
        <p:spPr>
          <a:xfrm>
            <a:off x="2178904" y="3498753"/>
            <a:ext cx="57078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78229" y="2412979"/>
            <a:ext cx="532681" cy="1028671"/>
          </a:xfrm>
          <a:prstGeom prst="rect">
            <a:avLst/>
          </a:prstGeom>
          <a:solidFill>
            <a:srgbClr val="A1978C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6" name="Text 14"/>
          <p:cNvSpPr/>
          <p:nvPr/>
        </p:nvSpPr>
        <p:spPr>
          <a:xfrm>
            <a:off x="2759179" y="3498753"/>
            <a:ext cx="57078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58503" y="2222500"/>
            <a:ext cx="532681" cy="1219151"/>
          </a:xfrm>
          <a:prstGeom prst="rect">
            <a:avLst/>
          </a:prstGeom>
          <a:solidFill>
            <a:srgbClr val="BCB2A6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8" name="Text 16"/>
          <p:cNvSpPr/>
          <p:nvPr/>
        </p:nvSpPr>
        <p:spPr>
          <a:xfrm>
            <a:off x="3339453" y="3498753"/>
            <a:ext cx="57078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8778" y="2031969"/>
            <a:ext cx="532681" cy="1409682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0" name="Text 18"/>
          <p:cNvSpPr/>
          <p:nvPr/>
        </p:nvSpPr>
        <p:spPr>
          <a:xfrm>
            <a:off x="3919728" y="3498753"/>
            <a:ext cx="57078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09322"/>
              </a:lnSpc>
            </a:pPr>
            <a:r>
              <a:rPr lang="en-US" sz="9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182" y="3761579"/>
            <a:ext cx="401427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2" name="Text 20"/>
          <p:cNvSpPr/>
          <p:nvPr/>
        </p:nvSpPr>
        <p:spPr>
          <a:xfrm>
            <a:off x="457182" y="3863434"/>
            <a:ext cx="923716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nivo 6 </a:t>
            </a:r>
            <a:r>
              <a:rPr lang="hr-HR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početni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30069" y="3863434"/>
            <a:ext cx="1465156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pauze 1 · 2 · 4 · 8 · 16 dana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18031" y="3863434"/>
            <a:ext cx="8539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nivo 0 </a:t>
            </a:r>
            <a:r>
              <a:rPr lang="hr-HR" sz="9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en-US" sz="9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b="1" dirty="0" err="1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trajno</a:t>
            </a:r>
            <a:r>
              <a:rPr lang="hr-HR" sz="9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pohranjeno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239990" y="2839155"/>
            <a:ext cx="344676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6" name="Shape 24"/>
          <p:cNvSpPr/>
          <p:nvPr/>
        </p:nvSpPr>
        <p:spPr>
          <a:xfrm>
            <a:off x="5239990" y="2370553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7" name="Text 25"/>
          <p:cNvSpPr/>
          <p:nvPr/>
        </p:nvSpPr>
        <p:spPr>
          <a:xfrm>
            <a:off x="5430469" y="2303891"/>
            <a:ext cx="3353976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 pojedinačni ajet kroz sedam nivoa sigurnosti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39990" y="3504851"/>
            <a:ext cx="344676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9" name="Shape 27"/>
          <p:cNvSpPr/>
          <p:nvPr/>
        </p:nvSpPr>
        <p:spPr>
          <a:xfrm>
            <a:off x="5239990" y="3036249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30" name="Text 28"/>
          <p:cNvSpPr/>
          <p:nvPr/>
        </p:nvSpPr>
        <p:spPr>
          <a:xfrm>
            <a:off x="5430469" y="2969586"/>
            <a:ext cx="3353976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Greška izoluje samo taj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ajet</a:t>
            </a: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ostatak bloka nastavlja svojom putanjom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39990" y="3701945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32" name="Text 30"/>
          <p:cNvSpPr/>
          <p:nvPr/>
        </p:nvSpPr>
        <p:spPr>
          <a:xfrm>
            <a:off x="5430469" y="3635282"/>
            <a:ext cx="2733632" cy="2247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Blaža posljedica na dubokim nivoima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Progresivna web aplikacija i prilagodba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191269" y="1344363"/>
            <a:ext cx="6615" cy="345622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Shape 5"/>
          <p:cNvSpPr/>
          <p:nvPr/>
        </p:nvSpPr>
        <p:spPr>
          <a:xfrm>
            <a:off x="457182" y="2525427"/>
            <a:ext cx="3353129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8" name="Shape 6"/>
          <p:cNvSpPr/>
          <p:nvPr/>
        </p:nvSpPr>
        <p:spPr>
          <a:xfrm>
            <a:off x="457182" y="2066386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9" name="Text 7"/>
          <p:cNvSpPr/>
          <p:nvPr/>
        </p:nvSpPr>
        <p:spPr>
          <a:xfrm>
            <a:off x="647661" y="1999723"/>
            <a:ext cx="3257529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Instalira se na uređaj iz preglednika, bez prodavnice aplikacija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182" y="3172003"/>
            <a:ext cx="3353129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1" name="Shape 9"/>
          <p:cNvSpPr/>
          <p:nvPr/>
        </p:nvSpPr>
        <p:spPr>
          <a:xfrm>
            <a:off x="457182" y="2712961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2" name="Text 10"/>
          <p:cNvSpPr/>
          <p:nvPr/>
        </p:nvSpPr>
        <p:spPr>
          <a:xfrm>
            <a:off x="647661" y="2646299"/>
            <a:ext cx="3257529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AU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Lokalno</a:t>
            </a:r>
            <a:r>
              <a:rPr lang="en-A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keširanje</a:t>
            </a:r>
            <a:r>
              <a:rPr lang="en-A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interfejsa</a:t>
            </a:r>
            <a:r>
              <a:rPr lang="en-A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omogu</a:t>
            </a:r>
            <a:r>
              <a:rPr lang="hr-H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ć</a:t>
            </a:r>
            <a:r>
              <a:rPr lang="en-AU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 rad u offline </a:t>
            </a:r>
            <a:r>
              <a:rPr lang="en-AU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režimu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182" y="3612855"/>
            <a:ext cx="3353129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4" name="Shape 12"/>
          <p:cNvSpPr/>
          <p:nvPr/>
        </p:nvSpPr>
        <p:spPr>
          <a:xfrm>
            <a:off x="457182" y="3359537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5" name="Text 13"/>
          <p:cNvSpPr/>
          <p:nvPr/>
        </p:nvSpPr>
        <p:spPr>
          <a:xfrm>
            <a:off x="647661" y="3292874"/>
            <a:ext cx="3357211" cy="2247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Pozivi prema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bazi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izuzeti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iz pohrane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182" y="3800388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7" name="Text 15"/>
          <p:cNvSpPr/>
          <p:nvPr/>
        </p:nvSpPr>
        <p:spPr>
          <a:xfrm>
            <a:off x="647661" y="3733726"/>
            <a:ext cx="3257529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Sedam tema, dva jezika, podesiva veličina arapskog teksta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8842" y="1931924"/>
            <a:ext cx="2384919" cy="2037240"/>
          </a:xfrm>
          <a:prstGeom prst="rect">
            <a:avLst/>
          </a:prstGeom>
          <a:ln w="13229">
            <a:solidFill>
              <a:srgbClr val="55504A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457" y="1938538"/>
            <a:ext cx="2371690" cy="202401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8842" y="4035826"/>
            <a:ext cx="262341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Mobilni prikaz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125663" y="2307043"/>
            <a:ext cx="1561145" cy="1287053"/>
          </a:xfrm>
          <a:prstGeom prst="rect">
            <a:avLst/>
          </a:prstGeom>
          <a:ln w="13229">
            <a:solidFill>
              <a:srgbClr val="55504A"/>
            </a:solidFill>
            <a:prstDash val="solid"/>
          </a:ln>
        </p:spPr>
        <p:txBody>
          <a:bodyPr/>
          <a:lstStyle/>
          <a:p>
            <a:endParaRPr lang="en-AU" sz="90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278" y="2313657"/>
            <a:ext cx="1547916" cy="127382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25663" y="3660758"/>
            <a:ext cx="1717260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7354"/>
              </a:lnSpc>
            </a:pPr>
            <a:r>
              <a:rPr lang="en-US" sz="900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Postavke i prilagodba</a:t>
            </a:r>
            <a:endParaRPr 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59ACD9-6346-6B72-C124-409222C56680}"/>
              </a:ext>
            </a:extLst>
          </p:cNvPr>
          <p:cNvSpPr txBox="1"/>
          <p:nvPr/>
        </p:nvSpPr>
        <p:spPr>
          <a:xfrm>
            <a:off x="3830782" y="3401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214532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RAZVOJ I IMPLEMENTACIJA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Testiranje, isporuka i vođenje razvoja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Shape 4"/>
          <p:cNvSpPr/>
          <p:nvPr/>
        </p:nvSpPr>
        <p:spPr>
          <a:xfrm>
            <a:off x="4369397" y="1344363"/>
            <a:ext cx="6615" cy="3456223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7" name="Text 5"/>
          <p:cNvSpPr/>
          <p:nvPr/>
        </p:nvSpPr>
        <p:spPr>
          <a:xfrm>
            <a:off x="457182" y="2151807"/>
            <a:ext cx="3884383" cy="7071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0313"/>
              </a:lnSpc>
            </a:pPr>
            <a:r>
              <a:rPr lang="en-US" sz="6375" b="1" kern="0" spc="-255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477</a:t>
            </a:r>
            <a:endParaRPr lang="en-US" sz="6375" dirty="0">
              <a:solidFill>
                <a:srgbClr val="E5484D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182" y="2887524"/>
            <a:ext cx="3884383" cy="2552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2267"/>
              </a:lnSpc>
            </a:pPr>
            <a:r>
              <a:rPr lang="en-US" sz="12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jediničnih testova u 15 datoteka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182" y="3285588"/>
            <a:ext cx="3531257" cy="707502"/>
          </a:xfrm>
          <a:prstGeom prst="rect">
            <a:avLst/>
          </a:prstGeom>
          <a:solidFill>
            <a:srgbClr val="15120F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0" name="Text 8"/>
          <p:cNvSpPr/>
          <p:nvPr/>
        </p:nvSpPr>
        <p:spPr>
          <a:xfrm>
            <a:off x="619084" y="3428421"/>
            <a:ext cx="3528198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38171"/>
              </a:lnSpc>
            </a:pPr>
            <a:r>
              <a:rPr lang="en-US" sz="975" dirty="0">
                <a:solidFill>
                  <a:srgbClr val="BAB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test/run.js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19084" y="3658382"/>
            <a:ext cx="3528198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38171"/>
              </a:lnSpc>
            </a:pPr>
            <a:r>
              <a:rPr lang="en-US" sz="975" dirty="0">
                <a:solidFill>
                  <a:srgbClr val="F3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Ukupno testova: 477 — prošlo 477, palo 0</a:t>
            </a:r>
            <a:endParaRPr lang="en-US" sz="975" dirty="0"/>
          </a:p>
        </p:txBody>
      </p:sp>
      <p:sp>
        <p:nvSpPr>
          <p:cNvPr id="12" name="Shape 10"/>
          <p:cNvSpPr/>
          <p:nvPr/>
        </p:nvSpPr>
        <p:spPr>
          <a:xfrm>
            <a:off x="4756971" y="2736319"/>
            <a:ext cx="3929838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3" name="Shape 11"/>
          <p:cNvSpPr/>
          <p:nvPr/>
        </p:nvSpPr>
        <p:spPr>
          <a:xfrm>
            <a:off x="4756971" y="2267717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4" name="Text 12"/>
          <p:cNvSpPr/>
          <p:nvPr/>
        </p:nvSpPr>
        <p:spPr>
          <a:xfrm>
            <a:off x="4947450" y="2201054"/>
            <a:ext cx="3851539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okvira za testiranje: vlastiti pokretač, svaki test zaseban proces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6971" y="3402015"/>
            <a:ext cx="3929838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6" name="Shape 14"/>
          <p:cNvSpPr/>
          <p:nvPr/>
        </p:nvSpPr>
        <p:spPr>
          <a:xfrm>
            <a:off x="4756971" y="2933413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7" name="Text 15"/>
          <p:cNvSpPr/>
          <p:nvPr/>
        </p:nvSpPr>
        <p:spPr>
          <a:xfrm>
            <a:off x="4947450" y="2866750"/>
            <a:ext cx="3851539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slika u dvije faze </a:t>
            </a: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konačna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bez alata za izgradnju i izvornog koda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6971" y="3599108"/>
            <a:ext cx="66663" cy="66663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9" name="Text 17"/>
          <p:cNvSpPr/>
          <p:nvPr/>
        </p:nvSpPr>
        <p:spPr>
          <a:xfrm>
            <a:off x="4947450" y="3532446"/>
            <a:ext cx="3851539" cy="43049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15200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DevOps: sprintovi,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izmjen</a:t>
            </a: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koda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vezan</a:t>
            </a: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zadat</a:t>
            </a:r>
            <a:r>
              <a:rPr lang="hr-HR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2092601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REZULTATI ISTRAŽIVANJA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76564"/>
              </a:lnSpc>
            </a:pPr>
            <a:r>
              <a:rPr lang="en-US" sz="2400" b="1" kern="0" spc="-36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Rezultati</a:t>
            </a:r>
            <a:r>
              <a:rPr lang="hr-HR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istraživanja</a:t>
            </a:r>
            <a:r>
              <a:rPr lang="en-US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mogućnosti daljeg razvoja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6" name="Text 4"/>
          <p:cNvSpPr/>
          <p:nvPr/>
        </p:nvSpPr>
        <p:spPr>
          <a:xfrm>
            <a:off x="0" y="1037091"/>
            <a:ext cx="9144000" cy="8702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09883"/>
              </a:lnSpc>
            </a:pPr>
            <a:r>
              <a:rPr lang="en-US" sz="4800" b="1" kern="0" spc="-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4800" dirty="0">
              <a:solidFill>
                <a:srgbClr val="E5484D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452114" y="1800125"/>
            <a:ext cx="2509609" cy="2552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2267"/>
              </a:lnSpc>
            </a:pPr>
            <a:r>
              <a:rPr lang="en-US" sz="12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funkcionalnih zahtjeva ispunjeno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639" y="2175001"/>
            <a:ext cx="650865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9" name="Text 7"/>
          <p:cNvSpPr/>
          <p:nvPr/>
        </p:nvSpPr>
        <p:spPr>
          <a:xfrm>
            <a:off x="538589" y="2251201"/>
            <a:ext cx="688965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46589" y="2175001"/>
            <a:ext cx="650917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1" name="Text 9"/>
          <p:cNvSpPr/>
          <p:nvPr/>
        </p:nvSpPr>
        <p:spPr>
          <a:xfrm>
            <a:off x="1227539" y="2251201"/>
            <a:ext cx="689017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35591" y="2175001"/>
            <a:ext cx="650865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3" name="Text 11"/>
          <p:cNvSpPr/>
          <p:nvPr/>
        </p:nvSpPr>
        <p:spPr>
          <a:xfrm>
            <a:off x="1916541" y="2251201"/>
            <a:ext cx="688965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24541" y="2175001"/>
            <a:ext cx="650917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5" name="Text 13"/>
          <p:cNvSpPr/>
          <p:nvPr/>
        </p:nvSpPr>
        <p:spPr>
          <a:xfrm>
            <a:off x="2605491" y="2251201"/>
            <a:ext cx="689017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13543" y="2175001"/>
            <a:ext cx="650865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7" name="Text 15"/>
          <p:cNvSpPr/>
          <p:nvPr/>
        </p:nvSpPr>
        <p:spPr>
          <a:xfrm>
            <a:off x="3294493" y="2251201"/>
            <a:ext cx="688965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02493" y="2175001"/>
            <a:ext cx="650917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9" name="Text 17"/>
          <p:cNvSpPr/>
          <p:nvPr/>
        </p:nvSpPr>
        <p:spPr>
          <a:xfrm>
            <a:off x="3983443" y="2251201"/>
            <a:ext cx="689017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91495" y="2175001"/>
            <a:ext cx="650865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1" name="Text 19"/>
          <p:cNvSpPr/>
          <p:nvPr/>
        </p:nvSpPr>
        <p:spPr>
          <a:xfrm>
            <a:off x="4672445" y="2251201"/>
            <a:ext cx="688965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61395" y="2175001"/>
            <a:ext cx="650917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3" name="Text 21"/>
          <p:cNvSpPr/>
          <p:nvPr/>
        </p:nvSpPr>
        <p:spPr>
          <a:xfrm>
            <a:off x="5361395" y="2251201"/>
            <a:ext cx="689017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50396" y="2175001"/>
            <a:ext cx="650865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5" name="Text 23"/>
          <p:cNvSpPr/>
          <p:nvPr/>
        </p:nvSpPr>
        <p:spPr>
          <a:xfrm>
            <a:off x="6050396" y="2251201"/>
            <a:ext cx="688965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39347" y="2175001"/>
            <a:ext cx="650917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7" name="Text 25"/>
          <p:cNvSpPr/>
          <p:nvPr/>
        </p:nvSpPr>
        <p:spPr>
          <a:xfrm>
            <a:off x="6739347" y="2251201"/>
            <a:ext cx="689017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28349" y="2175001"/>
            <a:ext cx="650865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29" name="Text 27"/>
          <p:cNvSpPr/>
          <p:nvPr/>
        </p:nvSpPr>
        <p:spPr>
          <a:xfrm>
            <a:off x="7428349" y="2251201"/>
            <a:ext cx="688965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17299" y="2175001"/>
            <a:ext cx="650917" cy="329489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31" name="Text 29"/>
          <p:cNvSpPr/>
          <p:nvPr/>
        </p:nvSpPr>
        <p:spPr>
          <a:xfrm>
            <a:off x="8117299" y="2251201"/>
            <a:ext cx="689017" cy="19613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>
              <a:lnSpc>
                <a:spcPct val="137354"/>
              </a:lnSpc>
            </a:pPr>
            <a:r>
              <a:rPr lang="en-US" sz="9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2104" y="2939552"/>
            <a:ext cx="8229627" cy="6615"/>
          </a:xfrm>
          <a:prstGeom prst="rect">
            <a:avLst/>
          </a:prstGeom>
          <a:solidFill>
            <a:srgbClr val="55504A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34" name="Text 32"/>
          <p:cNvSpPr/>
          <p:nvPr/>
        </p:nvSpPr>
        <p:spPr>
          <a:xfrm>
            <a:off x="654638" y="3114683"/>
            <a:ext cx="4099936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PROVJERENO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5025" y="3310880"/>
            <a:ext cx="3839031" cy="2780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igurnost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ručnim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testiranjem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hr-HR" sz="1200" dirty="0">
              <a:solidFill>
                <a:srgbClr val="F3F2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21898"/>
              </a:lnSpc>
            </a:pP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jediničnim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testovima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hr-HR" sz="1200" dirty="0">
              <a:solidFill>
                <a:srgbClr val="F3F2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21898"/>
              </a:lnSpc>
            </a:pP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portabilnost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izgradnjom baze od nule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13010" y="3785243"/>
            <a:ext cx="41072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B5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DALJI RAZVOJ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24782" y="3960493"/>
            <a:ext cx="3845897" cy="36569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21898"/>
              </a:lnSpc>
            </a:pPr>
            <a:r>
              <a:rPr lang="hr-HR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rupno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učenje kroz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halke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hr-HR" sz="1200" dirty="0">
              <a:solidFill>
                <a:srgbClr val="F3F2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21898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Kur’an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hr-HR" sz="1200" dirty="0">
              <a:solidFill>
                <a:srgbClr val="F3F2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21898"/>
              </a:lnSpc>
            </a:pP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</a:t>
            </a: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obavijesti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hr-HR" sz="1200" dirty="0">
              <a:solidFill>
                <a:srgbClr val="F3F2F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ct val="121898"/>
              </a:lnSpc>
            </a:pPr>
            <a:r>
              <a:rPr lang="en-US" sz="1200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razmaci</a:t>
            </a:r>
            <a:r>
              <a:rPr lang="en-US" sz="12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prema izmjerenom zaboravljanju</a:t>
            </a:r>
            <a:endParaRPr lang="en-US" sz="1200" dirty="0"/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324825A2-6106-4979-7AEF-EF27A7D086E6}"/>
              </a:ext>
            </a:extLst>
          </p:cNvPr>
          <p:cNvSpPr/>
          <p:nvPr/>
        </p:nvSpPr>
        <p:spPr>
          <a:xfrm>
            <a:off x="631779" y="3395083"/>
            <a:ext cx="45719" cy="62254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D7E9EB14-4C4D-B743-8C86-714489CC304A}"/>
              </a:ext>
            </a:extLst>
          </p:cNvPr>
          <p:cNvSpPr/>
          <p:nvPr/>
        </p:nvSpPr>
        <p:spPr>
          <a:xfrm>
            <a:off x="4331944" y="4029379"/>
            <a:ext cx="45719" cy="82800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2" y="361942"/>
            <a:ext cx="1119033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ZAKLJUČAK</a:t>
            </a:r>
            <a:endParaRPr lang="en-US" sz="900" dirty="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541339" y="361942"/>
            <a:ext cx="183569" cy="1961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322"/>
              </a:lnSpc>
            </a:pPr>
            <a:r>
              <a:rPr lang="en-US" sz="900" b="1" kern="0" spc="72" dirty="0">
                <a:solidFill>
                  <a:srgbClr val="8E8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182" y="662905"/>
            <a:ext cx="9052590" cy="34817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b="1" kern="0" spc="-36" dirty="0" err="1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Zaključak</a:t>
            </a:r>
            <a:r>
              <a:rPr lang="hr-HR" sz="2400" b="1" kern="0" spc="-36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2400" b="1" kern="0" spc="-36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 o</a:t>
            </a:r>
            <a:r>
              <a:rPr lang="en-AU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stvareni</a:t>
            </a:r>
            <a:r>
              <a:rPr lang="en-A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ciljevi</a:t>
            </a:r>
            <a:r>
              <a:rPr lang="en-A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A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doprinos</a:t>
            </a:r>
            <a:r>
              <a:rPr lang="en-AU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</a:t>
            </a:r>
            <a:endParaRPr 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182" y="1134866"/>
            <a:ext cx="571490" cy="1901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/>
          </a:p>
        </p:txBody>
      </p:sp>
      <p:sp>
        <p:nvSpPr>
          <p:cNvPr id="19" name="Text 17"/>
          <p:cNvSpPr/>
          <p:nvPr/>
        </p:nvSpPr>
        <p:spPr>
          <a:xfrm>
            <a:off x="457182" y="4707260"/>
            <a:ext cx="8476516" cy="22475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lnSpc>
                <a:spcPct val="128769"/>
              </a:lnSpc>
            </a:pP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uspješno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spaja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tradicionalne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metodologije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učenja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savremenim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softverskim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inženjerstvom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pružajući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pouzdan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digitalni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alat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podršku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hafizima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mualimima</a:t>
            </a:r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8259E1-457D-69C8-AE2E-465BD4C3071C}"/>
              </a:ext>
            </a:extLst>
          </p:cNvPr>
          <p:cNvSpPr/>
          <p:nvPr/>
        </p:nvSpPr>
        <p:spPr>
          <a:xfrm>
            <a:off x="485684" y="1333714"/>
            <a:ext cx="8282940" cy="662890"/>
          </a:xfrm>
          <a:prstGeom prst="rect">
            <a:avLst/>
          </a:prstGeom>
          <a:solidFill>
            <a:schemeClr val="accent1">
              <a:lumMod val="20000"/>
              <a:lumOff val="80000"/>
              <a:alpha val="1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91BC31-018B-D7D1-58A4-21CE531331EE}"/>
              </a:ext>
            </a:extLst>
          </p:cNvPr>
          <p:cNvSpPr txBox="1"/>
          <p:nvPr/>
        </p:nvSpPr>
        <p:spPr>
          <a:xfrm>
            <a:off x="1021219" y="1348562"/>
            <a:ext cx="7747405" cy="496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400" b="1" dirty="0" err="1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Granularno</a:t>
            </a:r>
            <a:r>
              <a:rPr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400" b="1" dirty="0" err="1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raćenje</a:t>
            </a:r>
            <a:r>
              <a:rPr lang="hr-HR"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istem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omogućava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precizan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uvid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znanje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nivou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džuza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stranice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hr-H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976"/>
              </a:lnSpc>
            </a:pP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sure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ajeta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vođenje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evidencije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nesigurnih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mjesta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9A3ABB-E5F9-5E98-BC9A-F542DB65CC0C}"/>
              </a:ext>
            </a:extLst>
          </p:cNvPr>
          <p:cNvSpPr/>
          <p:nvPr/>
        </p:nvSpPr>
        <p:spPr>
          <a:xfrm>
            <a:off x="485683" y="1330539"/>
            <a:ext cx="45719" cy="66289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D837187-5B1B-115F-30F4-50C41B692CA9}"/>
              </a:ext>
            </a:extLst>
          </p:cNvPr>
          <p:cNvSpPr/>
          <p:nvPr/>
        </p:nvSpPr>
        <p:spPr>
          <a:xfrm>
            <a:off x="474024" y="2181039"/>
            <a:ext cx="8282940" cy="662890"/>
          </a:xfrm>
          <a:prstGeom prst="rect">
            <a:avLst/>
          </a:prstGeom>
          <a:solidFill>
            <a:schemeClr val="accent1">
              <a:lumMod val="20000"/>
              <a:lumOff val="80000"/>
              <a:alpha val="1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740D37-4535-BD22-19F7-E715199805FC}"/>
              </a:ext>
            </a:extLst>
          </p:cNvPr>
          <p:cNvSpPr txBox="1"/>
          <p:nvPr/>
        </p:nvSpPr>
        <p:spPr>
          <a:xfrm>
            <a:off x="1009559" y="2249593"/>
            <a:ext cx="7747405" cy="496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PWA </a:t>
            </a:r>
            <a:r>
              <a:rPr lang="hr-HR"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1400" b="1" dirty="0" err="1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ristup</a:t>
            </a:r>
            <a:r>
              <a:rPr lang="hr-HR"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orisnički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funkcioniše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kao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progresivna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aplikacija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omogućavajući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brz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976"/>
              </a:lnSpc>
            </a:pP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 u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pregledniku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offline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pristup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prethodno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preuzetim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podacima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746C64-B2B1-15FF-20C0-A2726DFF6BF4}"/>
              </a:ext>
            </a:extLst>
          </p:cNvPr>
          <p:cNvSpPr/>
          <p:nvPr/>
        </p:nvSpPr>
        <p:spPr>
          <a:xfrm>
            <a:off x="474023" y="2181039"/>
            <a:ext cx="45719" cy="66289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C66951-6D09-AC69-A171-E9FCC9B3157D}"/>
              </a:ext>
            </a:extLst>
          </p:cNvPr>
          <p:cNvSpPr/>
          <p:nvPr/>
        </p:nvSpPr>
        <p:spPr>
          <a:xfrm>
            <a:off x="474025" y="3102376"/>
            <a:ext cx="8282940" cy="653919"/>
          </a:xfrm>
          <a:prstGeom prst="rect">
            <a:avLst/>
          </a:prstGeom>
          <a:solidFill>
            <a:schemeClr val="accent1">
              <a:lumMod val="20000"/>
              <a:lumOff val="80000"/>
              <a:alpha val="1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E1DB2C-71DF-15F5-23A1-346605B27143}"/>
              </a:ext>
            </a:extLst>
          </p:cNvPr>
          <p:cNvSpPr txBox="1"/>
          <p:nvPr/>
        </p:nvSpPr>
        <p:spPr>
          <a:xfrm>
            <a:off x="1009560" y="3204040"/>
            <a:ext cx="7747405" cy="496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400" b="1" dirty="0" err="1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1400" b="1" dirty="0" err="1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čenik</a:t>
            </a:r>
            <a:r>
              <a:rPr lang="hr-HR"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m</a:t>
            </a:r>
            <a:r>
              <a:rPr sz="1400" b="1" dirty="0" err="1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ualim</a:t>
            </a:r>
            <a:r>
              <a:rPr lang="hr-HR"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d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igitalizovan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tradicionalni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odnos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nastave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hifza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uvažavanje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pravila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spajanja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korisnika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istog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roda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78DFF2B-D109-CCB3-5C80-974C9A44EDA3}"/>
              </a:ext>
            </a:extLst>
          </p:cNvPr>
          <p:cNvSpPr/>
          <p:nvPr/>
        </p:nvSpPr>
        <p:spPr>
          <a:xfrm>
            <a:off x="474024" y="3102376"/>
            <a:ext cx="45719" cy="653919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416C5B-4F0B-244C-F964-EE816E4DC978}"/>
              </a:ext>
            </a:extLst>
          </p:cNvPr>
          <p:cNvSpPr/>
          <p:nvPr/>
        </p:nvSpPr>
        <p:spPr>
          <a:xfrm>
            <a:off x="485684" y="3906522"/>
            <a:ext cx="8282940" cy="662890"/>
          </a:xfrm>
          <a:prstGeom prst="rect">
            <a:avLst/>
          </a:prstGeom>
          <a:solidFill>
            <a:schemeClr val="accent1">
              <a:lumMod val="20000"/>
              <a:lumOff val="80000"/>
              <a:alpha val="1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DCD0E1-FCBF-9C48-66E6-BD84FFF6AE0B}"/>
              </a:ext>
            </a:extLst>
          </p:cNvPr>
          <p:cNvSpPr txBox="1"/>
          <p:nvPr/>
        </p:nvSpPr>
        <p:spPr>
          <a:xfrm>
            <a:off x="1009559" y="3994153"/>
            <a:ext cx="7747405" cy="4962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Visok </a:t>
            </a:r>
            <a:r>
              <a:rPr lang="hr-HR"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1400" b="1" dirty="0" err="1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ivo</a:t>
            </a:r>
            <a:r>
              <a:rPr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400" b="1" dirty="0" err="1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igurnosti</a:t>
            </a:r>
            <a:r>
              <a:rPr lang="hr-HR" sz="1400" b="1" dirty="0">
                <a:solidFill>
                  <a:srgbClr val="E548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odaci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korisnika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zaštićeni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RLS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sigurnosnim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pravilima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 PostgreSQL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bazi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sprečavajući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neovlašten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pristup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korisničke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sesije</a:t>
            </a:r>
            <a:r>
              <a:rPr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D676B81-A169-93AA-A5BA-726577A74B45}"/>
              </a:ext>
            </a:extLst>
          </p:cNvPr>
          <p:cNvSpPr/>
          <p:nvPr/>
        </p:nvSpPr>
        <p:spPr>
          <a:xfrm>
            <a:off x="485683" y="3906522"/>
            <a:ext cx="45719" cy="66289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06754150-8559-ECEC-B065-E49679B15784}"/>
              </a:ext>
            </a:extLst>
          </p:cNvPr>
          <p:cNvCxnSpPr>
            <a:cxnSpLocks/>
          </p:cNvCxnSpPr>
          <p:nvPr/>
        </p:nvCxnSpPr>
        <p:spPr>
          <a:xfrm>
            <a:off x="485684" y="1339560"/>
            <a:ext cx="512215" cy="264040"/>
          </a:xfrm>
          <a:prstGeom prst="bentConnector3">
            <a:avLst/>
          </a:prstGeom>
          <a:ln w="22225">
            <a:solidFill>
              <a:srgbClr val="E548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8F200D14-7F37-EFC9-1B1C-CF11C189ECF7}"/>
              </a:ext>
            </a:extLst>
          </p:cNvPr>
          <p:cNvCxnSpPr>
            <a:cxnSpLocks/>
          </p:cNvCxnSpPr>
          <p:nvPr/>
        </p:nvCxnSpPr>
        <p:spPr>
          <a:xfrm>
            <a:off x="478064" y="2186680"/>
            <a:ext cx="512215" cy="303406"/>
          </a:xfrm>
          <a:prstGeom prst="bentConnector3">
            <a:avLst/>
          </a:prstGeom>
          <a:ln w="22225">
            <a:solidFill>
              <a:srgbClr val="E548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A9572FAB-A952-8B55-7A92-BF5305C0F2AD}"/>
              </a:ext>
            </a:extLst>
          </p:cNvPr>
          <p:cNvCxnSpPr>
            <a:cxnSpLocks/>
          </p:cNvCxnSpPr>
          <p:nvPr/>
        </p:nvCxnSpPr>
        <p:spPr>
          <a:xfrm>
            <a:off x="474025" y="3099836"/>
            <a:ext cx="523874" cy="309109"/>
          </a:xfrm>
          <a:prstGeom prst="bentConnector3">
            <a:avLst/>
          </a:prstGeom>
          <a:ln w="22225">
            <a:solidFill>
              <a:srgbClr val="E548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6468C2F6-7709-D8AF-EB84-060AEE97A140}"/>
              </a:ext>
            </a:extLst>
          </p:cNvPr>
          <p:cNvCxnSpPr>
            <a:cxnSpLocks/>
          </p:cNvCxnSpPr>
          <p:nvPr/>
        </p:nvCxnSpPr>
        <p:spPr>
          <a:xfrm>
            <a:off x="485518" y="3909866"/>
            <a:ext cx="504761" cy="309109"/>
          </a:xfrm>
          <a:prstGeom prst="bentConnector3">
            <a:avLst/>
          </a:prstGeom>
          <a:ln w="22225">
            <a:solidFill>
              <a:srgbClr val="E548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2" y="409799"/>
            <a:ext cx="95240" cy="9524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>
              <a:solidFill>
                <a:srgbClr val="E548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7661" y="361942"/>
            <a:ext cx="811279" cy="2404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09770"/>
              </a:lnSpc>
            </a:pPr>
            <a:r>
              <a:rPr lang="en-US" sz="1125" b="1" kern="0" spc="270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TMIZAN</a:t>
            </a:r>
            <a:endParaRPr lang="en-US" sz="1125" dirty="0">
              <a:solidFill>
                <a:srgbClr val="E5484D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182" y="2187774"/>
            <a:ext cx="7858125" cy="67627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5154"/>
              </a:lnSpc>
            </a:pPr>
            <a:r>
              <a:rPr lang="en-US" sz="5625" b="1" kern="0" spc="-169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Demonstracija sistema</a:t>
            </a:r>
            <a:endParaRPr lang="en-US" sz="5625" dirty="0"/>
          </a:p>
        </p:txBody>
      </p:sp>
      <p:sp>
        <p:nvSpPr>
          <p:cNvPr id="5" name="Shape 3"/>
          <p:cNvSpPr/>
          <p:nvPr/>
        </p:nvSpPr>
        <p:spPr>
          <a:xfrm>
            <a:off x="457182" y="4472990"/>
            <a:ext cx="8229627" cy="16537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en-AU" sz="900">
              <a:solidFill>
                <a:srgbClr val="E5484D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182" y="4608711"/>
            <a:ext cx="2105960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Hifz Tracker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562169" y="4608711"/>
            <a:ext cx="2106016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učenja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667209" y="4608711"/>
            <a:ext cx="2106016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Ponavljanje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772248" y="4608711"/>
            <a:ext cx="2106016" cy="210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4958"/>
              </a:lnSpc>
            </a:pPr>
            <a:r>
              <a:rPr lang="en-US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</a:t>
            </a:r>
            <a:r>
              <a:rPr lang="hr-HR" sz="975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</a:t>
            </a:r>
            <a:endParaRPr lang="en-US" sz="97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3ADB1-348B-C39C-D658-58DB3C4333DE}"/>
              </a:ext>
            </a:extLst>
          </p:cNvPr>
          <p:cNvSpPr txBox="1"/>
          <p:nvPr/>
        </p:nvSpPr>
        <p:spPr>
          <a:xfrm>
            <a:off x="8315307" y="4534767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bg1"/>
                </a:solidFill>
              </a:rPr>
              <a:t>. . . </a:t>
            </a:r>
            <a:endParaRPr lang="en-A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1182</Words>
  <Application>Microsoft Office PowerPoint</Application>
  <PresentationFormat>On-screen Show (16:9)</PresentationFormat>
  <Paragraphs>316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Tmizan — odbrana diplomskog rada</dc:title>
  <dc:subject>PptxGenJS Presentation</dc:subject>
  <dc:creator>Amira Mehić</dc:creator>
  <cp:lastModifiedBy>Maaq</cp:lastModifiedBy>
  <cp:revision>7</cp:revision>
  <dcterms:created xsi:type="dcterms:W3CDTF">2026-08-31T18:21:15Z</dcterms:created>
  <dcterms:modified xsi:type="dcterms:W3CDTF">2026-08-31T23:03:07Z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2026-08-31T18:49:58Z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e063e115-219e-48e4-8e23-d90d7a416a92</vt:lpwstr>
  </property>
  <property fmtid="{D5CDD505-2E9C-101B-9397-08002B2CF9AE}" pid="7" name="MSIP_Label_defa4170-0d19-0005-0004-bc88714345d2_ActionId">
    <vt:lpwstr>2eb2c6ab-cd19-41d4-887f-2dfdb51ec907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